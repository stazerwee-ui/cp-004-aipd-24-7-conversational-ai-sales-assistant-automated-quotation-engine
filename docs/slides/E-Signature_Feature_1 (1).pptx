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
  </p:notesMasterIdLst>
  <p:sldIdLst>
    <p:sldId id="256" r:id="rId5"/>
    <p:sldId id="257" r:id="rId6"/>
    <p:sldId id="258" r:id="rId7"/>
    <p:sldId id="259" r:id="rId8"/>
    <p:sldId id="261"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C6A3E5-B832-8995-E433-C260E2A55CBB}" v="5" dt="2026-07-27T16:29:23.279"/>
    <p1510:client id="{D3EEFC8C-697B-0435-F20D-7FBD5695E29D}" v="57" dt="2026-07-27T15:52:41.0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5254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Feature 1 of 4: the E-Signature &amp; Intake Gateway. This is the final step of the customer journey — after the family has chosen their package, they authorize it by signing on-screen, and we generate an official PDF quote.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things at a high level: Capture the signature, Embed it into the quote, Export to PDF. The card on the right is a real signed quote our system produced — not a mock-up.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requirements, side by side. HARDWARE: any touch-enabled client device — a tablet or phone with finger or stylus, or a PC with a mouse. Nothing special to buy. SOFTWARE: three native web technologies — HTML5 Canvas as the drawing surface, JavaScript to capture and place the signature, and the Web Browser to run it and produce the PDF. No external libraries or paid services, which fits our 'keep it simple, runs locally' project constraint.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flow, left to right. The User Drawing fires mouse and touch events. The HTML5 Canvas renders each stroke live using lineTo and stroke. Then canvas.toDataURL performs the Base64 Conversion, turning the drawing into a PNG data URL. Our syncPDFSignature function takes that string, saves it into the app state, sets it as the image inside the quote, and flips the status to EXECUTED &amp; VERIFIED. Finally window.print triggers the Browser Print Engine, and our print stylesheet hides the app interface so only the quote renders — producing the Final Executed Quote as a PDF. Worth noting: syncPDFSignature is a JavaScript function in our own code, not an external API call — everything here runs client-side in the browser.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result: a signed, timestamped, itemized quote exported in one click. Being honest about scope — this is a proof of concept: the signature capture and PDF embedding are fully real; the SHA-256 label marks where production cryptographic signing would be added in a real deployment. That's the boundary of our prototype.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A12"/>
        </a:solidFill>
        <a:effectLst/>
      </p:bgPr>
    </p:bg>
    <p:spTree>
      <p:nvGrpSpPr>
        <p:cNvPr id="1" name=""/>
        <p:cNvGrpSpPr/>
        <p:nvPr/>
      </p:nvGrpSpPr>
      <p:grpSpPr>
        <a:xfrm>
          <a:off x="0" y="0"/>
          <a:ext cx="0" cy="0"/>
          <a:chOff x="0" y="0"/>
          <a:chExt cx="0" cy="0"/>
        </a:xfrm>
      </p:grpSpPr>
      <p:sp>
        <p:nvSpPr>
          <p:cNvPr id="2" name="Shape 0"/>
          <p:cNvSpPr/>
          <p:nvPr/>
        </p:nvSpPr>
        <p:spPr>
          <a:xfrm>
            <a:off x="640080" y="2148840"/>
            <a:ext cx="2560320" cy="2560320"/>
          </a:xfrm>
          <a:prstGeom prst="ellipse">
            <a:avLst/>
          </a:prstGeom>
          <a:solidFill>
            <a:srgbClr val="3A2418"/>
          </a:solidFill>
          <a:ln w="15875">
            <a:solidFill>
              <a:srgbClr val="B5764A"/>
            </a:solidFill>
            <a:prstDash val="solid"/>
          </a:ln>
        </p:spPr>
        <p:txBody>
          <a:bodyPr/>
          <a:lstStyle/>
          <a:p>
            <a:endParaRPr lang="en-SG"/>
          </a:p>
        </p:txBody>
      </p:sp>
      <p:pic>
        <p:nvPicPr>
          <p:cNvPr id="3" name="Image 0" descr="assets/logo.png"/>
          <p:cNvPicPr>
            <a:picLocks noChangeAspect="1"/>
          </p:cNvPicPr>
          <p:nvPr/>
        </p:nvPicPr>
        <p:blipFill>
          <a:blip r:embed="rId3"/>
          <a:stretch>
            <a:fillRect/>
          </a:stretch>
        </p:blipFill>
        <p:spPr>
          <a:xfrm>
            <a:off x="868680" y="2377440"/>
            <a:ext cx="2103120" cy="2103120"/>
          </a:xfrm>
          <a:prstGeom prst="rect">
            <a:avLst/>
          </a:prstGeom>
        </p:spPr>
      </p:pic>
      <p:sp>
        <p:nvSpPr>
          <p:cNvPr id="4" name="Text 1"/>
          <p:cNvSpPr/>
          <p:nvPr/>
        </p:nvSpPr>
        <p:spPr>
          <a:xfrm>
            <a:off x="3749040" y="1965960"/>
            <a:ext cx="5486400" cy="365760"/>
          </a:xfrm>
          <a:prstGeom prst="rect">
            <a:avLst/>
          </a:prstGeom>
          <a:noFill/>
          <a:ln/>
        </p:spPr>
        <p:txBody>
          <a:bodyPr wrap="square" rtlCol="0" anchor="ctr"/>
          <a:lstStyle/>
          <a:p>
            <a:pPr marL="0" indent="0">
              <a:buNone/>
            </a:pPr>
            <a:r>
              <a:rPr lang="en-US" sz="1500" b="1" kern="0" spc="300">
                <a:solidFill>
                  <a:srgbClr val="B5764A"/>
                </a:solidFill>
                <a:latin typeface="Calibri" pitchFamily="34" charset="0"/>
                <a:ea typeface="Calibri" pitchFamily="34" charset="-122"/>
                <a:cs typeface="Calibri" pitchFamily="34" charset="-120"/>
              </a:rPr>
              <a:t>FEATURE 1</a:t>
            </a:r>
            <a:endParaRPr lang="en-US" sz="1500"/>
          </a:p>
        </p:txBody>
      </p:sp>
      <p:sp>
        <p:nvSpPr>
          <p:cNvPr id="5" name="Text 2"/>
          <p:cNvSpPr/>
          <p:nvPr/>
        </p:nvSpPr>
        <p:spPr>
          <a:xfrm>
            <a:off x="3703320" y="2331720"/>
            <a:ext cx="7863840" cy="1737360"/>
          </a:xfrm>
          <a:prstGeom prst="rect">
            <a:avLst/>
          </a:prstGeom>
          <a:noFill/>
          <a:ln/>
        </p:spPr>
        <p:txBody>
          <a:bodyPr wrap="square" rtlCol="0" anchor="ctr"/>
          <a:lstStyle/>
          <a:p>
            <a:pPr marL="0" indent="0">
              <a:lnSpc>
                <a:spcPts val="4200"/>
              </a:lnSpc>
              <a:buNone/>
            </a:pPr>
            <a:r>
              <a:rPr lang="en-US" sz="4000" b="1">
                <a:solidFill>
                  <a:srgbClr val="FFFFFF"/>
                </a:solidFill>
                <a:latin typeface="Bookman Old Style" pitchFamily="34" charset="0"/>
                <a:ea typeface="Bookman Old Style" pitchFamily="34" charset="-122"/>
                <a:cs typeface="Bookman Old Style" pitchFamily="34" charset="-120"/>
              </a:rPr>
              <a:t>Electronic Signature</a:t>
            </a:r>
            <a:endParaRPr lang="en-US" sz="4000"/>
          </a:p>
          <a:p>
            <a:pPr marL="0" indent="0">
              <a:lnSpc>
                <a:spcPts val="4200"/>
              </a:lnSpc>
              <a:buNone/>
            </a:pPr>
            <a:r>
              <a:rPr lang="en-US" sz="4000" b="1">
                <a:solidFill>
                  <a:srgbClr val="FFFFFF"/>
                </a:solidFill>
                <a:latin typeface="Bookman Old Style" pitchFamily="34" charset="0"/>
                <a:ea typeface="Bookman Old Style" pitchFamily="34" charset="-122"/>
                <a:cs typeface="Bookman Old Style" pitchFamily="34" charset="-120"/>
              </a:rPr>
              <a:t>&amp; Intake Gateway</a:t>
            </a:r>
            <a:endParaRPr lang="en-US" sz="4000"/>
          </a:p>
        </p:txBody>
      </p:sp>
      <p:sp>
        <p:nvSpPr>
          <p:cNvPr id="6" name="Text 3"/>
          <p:cNvSpPr/>
          <p:nvPr/>
        </p:nvSpPr>
        <p:spPr>
          <a:xfrm>
            <a:off x="3749040" y="4114800"/>
            <a:ext cx="7589520" cy="822960"/>
          </a:xfrm>
          <a:prstGeom prst="rect">
            <a:avLst/>
          </a:prstGeom>
          <a:noFill/>
          <a:ln/>
        </p:spPr>
        <p:txBody>
          <a:bodyPr wrap="square" rtlCol="0" anchor="ctr"/>
          <a:lstStyle/>
          <a:p>
            <a:pPr marL="0" indent="0">
              <a:lnSpc>
                <a:spcPts val="2200"/>
              </a:lnSpc>
              <a:buNone/>
            </a:pPr>
            <a:r>
              <a:rPr lang="en-US" sz="1500">
                <a:solidFill>
                  <a:srgbClr val="D9C9BC"/>
                </a:solidFill>
                <a:latin typeface="Calibri" pitchFamily="34" charset="0"/>
                <a:ea typeface="Calibri" pitchFamily="34" charset="-122"/>
                <a:cs typeface="Calibri" pitchFamily="34" charset="-120"/>
              </a:rPr>
              <a:t>A touch-and-mouse signature pad that captures a client's authorization and embeds it into an official, exportable PDF quotation.</a:t>
            </a:r>
            <a:endParaRPr lang="en-US" sz="1500"/>
          </a:p>
        </p:txBody>
      </p:sp>
      <p:sp>
        <p:nvSpPr>
          <p:cNvPr id="7" name="Text 4"/>
          <p:cNvSpPr/>
          <p:nvPr/>
        </p:nvSpPr>
        <p:spPr>
          <a:xfrm>
            <a:off x="3749040" y="5257800"/>
            <a:ext cx="7315200" cy="320040"/>
          </a:xfrm>
          <a:prstGeom prst="rect">
            <a:avLst/>
          </a:prstGeom>
          <a:noFill/>
          <a:ln/>
        </p:spPr>
        <p:txBody>
          <a:bodyPr wrap="square" rtlCol="0" anchor="ctr"/>
          <a:lstStyle/>
          <a:p>
            <a:pPr marL="0" indent="0">
              <a:buNone/>
            </a:pPr>
            <a:r>
              <a:rPr lang="en-US" sz="1200" i="1">
                <a:solidFill>
                  <a:srgbClr val="6E5D54"/>
                </a:solidFill>
                <a:latin typeface="Calibri" pitchFamily="34" charset="0"/>
                <a:ea typeface="Calibri" pitchFamily="34" charset="-122"/>
                <a:cs typeface="Calibri" pitchFamily="34" charset="-120"/>
              </a:rPr>
              <a:t>Project CP-004  ·  Klass Dignity Care Portal</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7315200" cy="640080"/>
          </a:xfrm>
          <a:prstGeom prst="rect">
            <a:avLst/>
          </a:prstGeom>
          <a:noFill/>
          <a:ln/>
        </p:spPr>
        <p:txBody>
          <a:bodyPr wrap="square" rtlCol="0" anchor="ctr"/>
          <a:lstStyle/>
          <a:p>
            <a:pPr marL="0" indent="0">
              <a:buNone/>
            </a:pPr>
            <a:r>
              <a:rPr lang="en-US" sz="3200" b="1">
                <a:solidFill>
                  <a:srgbClr val="2D1A12"/>
                </a:solidFill>
                <a:latin typeface="Bookman Old Style" pitchFamily="34" charset="0"/>
                <a:ea typeface="Bookman Old Style" pitchFamily="34" charset="-122"/>
                <a:cs typeface="Bookman Old Style" pitchFamily="34" charset="-120"/>
              </a:rPr>
              <a:t>What the feature does</a:t>
            </a:r>
            <a:endParaRPr lang="en-US" sz="3200"/>
          </a:p>
        </p:txBody>
      </p:sp>
      <p:sp>
        <p:nvSpPr>
          <p:cNvPr id="3" name="Text 1"/>
          <p:cNvSpPr/>
          <p:nvPr/>
        </p:nvSpPr>
        <p:spPr>
          <a:xfrm>
            <a:off x="502920" y="1463040"/>
            <a:ext cx="640080" cy="640080"/>
          </a:xfrm>
          <a:prstGeom prst="ellipse">
            <a:avLst/>
          </a:prstGeom>
          <a:solidFill>
            <a:srgbClr val="B5764A"/>
          </a:solidFill>
          <a:ln/>
        </p:spPr>
        <p:txBody>
          <a:bodyPr wrap="square" lIns="0" tIns="0" rIns="0" bIns="0" rtlCol="0" anchor="ctr"/>
          <a:lstStyle/>
          <a:p>
            <a:pPr marL="0" indent="0" algn="ctr">
              <a:buNone/>
            </a:pPr>
            <a:r>
              <a:rPr lang="en-US" sz="2200" b="1">
                <a:solidFill>
                  <a:srgbClr val="FFFFFF"/>
                </a:solidFill>
                <a:latin typeface="Bookman Old Style" pitchFamily="34" charset="0"/>
                <a:ea typeface="Bookman Old Style" pitchFamily="34" charset="-122"/>
                <a:cs typeface="Bookman Old Style" pitchFamily="34" charset="-120"/>
              </a:rPr>
              <a:t>1</a:t>
            </a:r>
            <a:endParaRPr lang="en-US" sz="2200"/>
          </a:p>
        </p:txBody>
      </p:sp>
      <p:sp>
        <p:nvSpPr>
          <p:cNvPr id="4" name="Text 2"/>
          <p:cNvSpPr/>
          <p:nvPr/>
        </p:nvSpPr>
        <p:spPr>
          <a:xfrm>
            <a:off x="1325880" y="1444752"/>
            <a:ext cx="4754880" cy="365760"/>
          </a:xfrm>
          <a:prstGeom prst="rect">
            <a:avLst/>
          </a:prstGeom>
          <a:noFill/>
          <a:ln/>
        </p:spPr>
        <p:txBody>
          <a:bodyPr wrap="square" rtlCol="0" anchor="ctr"/>
          <a:lstStyle/>
          <a:p>
            <a:pPr marL="0" indent="0">
              <a:buNone/>
            </a:pPr>
            <a:r>
              <a:rPr lang="en-US" sz="1800" b="1">
                <a:solidFill>
                  <a:srgbClr val="8A5730"/>
                </a:solidFill>
                <a:latin typeface="Calibri" pitchFamily="34" charset="0"/>
                <a:ea typeface="Calibri" pitchFamily="34" charset="-122"/>
                <a:cs typeface="Calibri" pitchFamily="34" charset="-120"/>
              </a:rPr>
              <a:t>Capture</a:t>
            </a:r>
            <a:endParaRPr lang="en-US" sz="1800"/>
          </a:p>
        </p:txBody>
      </p:sp>
      <p:sp>
        <p:nvSpPr>
          <p:cNvPr id="5" name="Text 3"/>
          <p:cNvSpPr/>
          <p:nvPr/>
        </p:nvSpPr>
        <p:spPr>
          <a:xfrm>
            <a:off x="1325880" y="1792224"/>
            <a:ext cx="4937760" cy="822960"/>
          </a:xfrm>
          <a:prstGeom prst="rect">
            <a:avLst/>
          </a:prstGeom>
          <a:noFill/>
          <a:ln/>
        </p:spPr>
        <p:txBody>
          <a:bodyPr wrap="square" rtlCol="0" anchor="ctr"/>
          <a:lstStyle/>
          <a:p>
            <a:pPr marL="0" indent="0">
              <a:lnSpc>
                <a:spcPts val="1800"/>
              </a:lnSpc>
              <a:buNone/>
            </a:pPr>
            <a:r>
              <a:rPr lang="en-US" sz="1350">
                <a:solidFill>
                  <a:srgbClr val="6E5D54"/>
                </a:solidFill>
                <a:latin typeface="Calibri" pitchFamily="34" charset="0"/>
                <a:ea typeface="Calibri" pitchFamily="34" charset="-122"/>
                <a:cs typeface="Calibri" pitchFamily="34" charset="-120"/>
              </a:rPr>
              <a:t>The client signs directly on-screen with a finger, stylus, or mouse — no printing, no scanning.</a:t>
            </a:r>
            <a:endParaRPr lang="en-US" sz="1350"/>
          </a:p>
        </p:txBody>
      </p:sp>
      <p:sp>
        <p:nvSpPr>
          <p:cNvPr id="6" name="Text 4"/>
          <p:cNvSpPr/>
          <p:nvPr/>
        </p:nvSpPr>
        <p:spPr>
          <a:xfrm>
            <a:off x="502920" y="2880360"/>
            <a:ext cx="640080" cy="640080"/>
          </a:xfrm>
          <a:prstGeom prst="ellipse">
            <a:avLst/>
          </a:prstGeom>
          <a:solidFill>
            <a:srgbClr val="B5764A"/>
          </a:solidFill>
          <a:ln/>
        </p:spPr>
        <p:txBody>
          <a:bodyPr wrap="square" lIns="0" tIns="0" rIns="0" bIns="0" rtlCol="0" anchor="ctr"/>
          <a:lstStyle/>
          <a:p>
            <a:pPr marL="0" indent="0" algn="ctr">
              <a:buNone/>
            </a:pPr>
            <a:r>
              <a:rPr lang="en-US" sz="2200" b="1">
                <a:solidFill>
                  <a:srgbClr val="FFFFFF"/>
                </a:solidFill>
                <a:latin typeface="Bookman Old Style" pitchFamily="34" charset="0"/>
                <a:ea typeface="Bookman Old Style" pitchFamily="34" charset="-122"/>
                <a:cs typeface="Bookman Old Style" pitchFamily="34" charset="-120"/>
              </a:rPr>
              <a:t>2</a:t>
            </a:r>
            <a:endParaRPr lang="en-US" sz="2200"/>
          </a:p>
        </p:txBody>
      </p:sp>
      <p:sp>
        <p:nvSpPr>
          <p:cNvPr id="7" name="Text 5"/>
          <p:cNvSpPr/>
          <p:nvPr/>
        </p:nvSpPr>
        <p:spPr>
          <a:xfrm>
            <a:off x="1325880" y="2862072"/>
            <a:ext cx="4754880" cy="365760"/>
          </a:xfrm>
          <a:prstGeom prst="rect">
            <a:avLst/>
          </a:prstGeom>
          <a:noFill/>
          <a:ln/>
        </p:spPr>
        <p:txBody>
          <a:bodyPr wrap="square" rtlCol="0" anchor="ctr"/>
          <a:lstStyle/>
          <a:p>
            <a:pPr marL="0" indent="0">
              <a:buNone/>
            </a:pPr>
            <a:r>
              <a:rPr lang="en-US" sz="1800" b="1">
                <a:solidFill>
                  <a:srgbClr val="8A5730"/>
                </a:solidFill>
                <a:latin typeface="Calibri" pitchFamily="34" charset="0"/>
                <a:ea typeface="Calibri" pitchFamily="34" charset="-122"/>
                <a:cs typeface="Calibri" pitchFamily="34" charset="-120"/>
              </a:rPr>
              <a:t>Embed</a:t>
            </a:r>
            <a:endParaRPr lang="en-US" sz="1800"/>
          </a:p>
        </p:txBody>
      </p:sp>
      <p:sp>
        <p:nvSpPr>
          <p:cNvPr id="8" name="Text 6"/>
          <p:cNvSpPr/>
          <p:nvPr/>
        </p:nvSpPr>
        <p:spPr>
          <a:xfrm>
            <a:off x="1325880" y="3209544"/>
            <a:ext cx="4937760" cy="822960"/>
          </a:xfrm>
          <a:prstGeom prst="rect">
            <a:avLst/>
          </a:prstGeom>
          <a:noFill/>
          <a:ln/>
        </p:spPr>
        <p:txBody>
          <a:bodyPr wrap="square" rtlCol="0" anchor="ctr"/>
          <a:lstStyle/>
          <a:p>
            <a:pPr marL="0" indent="0">
              <a:lnSpc>
                <a:spcPts val="1800"/>
              </a:lnSpc>
              <a:buNone/>
            </a:pPr>
            <a:r>
              <a:rPr lang="en-US" sz="1350">
                <a:solidFill>
                  <a:srgbClr val="6E5D54"/>
                </a:solidFill>
                <a:latin typeface="Calibri" pitchFamily="34" charset="0"/>
                <a:ea typeface="Calibri" pitchFamily="34" charset="-122"/>
                <a:cs typeface="Calibri" pitchFamily="34" charset="-120"/>
              </a:rPr>
              <a:t>The signature is placed into the official itemized quotation alongside a timestamp and signer name.</a:t>
            </a:r>
            <a:endParaRPr lang="en-US" sz="1350"/>
          </a:p>
        </p:txBody>
      </p:sp>
      <p:sp>
        <p:nvSpPr>
          <p:cNvPr id="9" name="Text 7"/>
          <p:cNvSpPr/>
          <p:nvPr/>
        </p:nvSpPr>
        <p:spPr>
          <a:xfrm>
            <a:off x="502920" y="4297680"/>
            <a:ext cx="640080" cy="640080"/>
          </a:xfrm>
          <a:prstGeom prst="ellipse">
            <a:avLst/>
          </a:prstGeom>
          <a:solidFill>
            <a:srgbClr val="B5764A"/>
          </a:solidFill>
          <a:ln/>
        </p:spPr>
        <p:txBody>
          <a:bodyPr wrap="square" lIns="0" tIns="0" rIns="0" bIns="0" rtlCol="0" anchor="ctr"/>
          <a:lstStyle/>
          <a:p>
            <a:pPr marL="0" indent="0" algn="ctr">
              <a:buNone/>
            </a:pPr>
            <a:r>
              <a:rPr lang="en-US" sz="2200" b="1">
                <a:solidFill>
                  <a:srgbClr val="FFFFFF"/>
                </a:solidFill>
                <a:latin typeface="Bookman Old Style" pitchFamily="34" charset="0"/>
                <a:ea typeface="Bookman Old Style" pitchFamily="34" charset="-122"/>
                <a:cs typeface="Bookman Old Style" pitchFamily="34" charset="-120"/>
              </a:rPr>
              <a:t>3</a:t>
            </a:r>
            <a:endParaRPr lang="en-US" sz="2200"/>
          </a:p>
        </p:txBody>
      </p:sp>
      <p:sp>
        <p:nvSpPr>
          <p:cNvPr id="10" name="Text 8"/>
          <p:cNvSpPr/>
          <p:nvPr/>
        </p:nvSpPr>
        <p:spPr>
          <a:xfrm>
            <a:off x="1325880" y="4279392"/>
            <a:ext cx="4754880" cy="365760"/>
          </a:xfrm>
          <a:prstGeom prst="rect">
            <a:avLst/>
          </a:prstGeom>
          <a:noFill/>
          <a:ln/>
        </p:spPr>
        <p:txBody>
          <a:bodyPr wrap="square" rtlCol="0" anchor="ctr"/>
          <a:lstStyle/>
          <a:p>
            <a:pPr marL="0" indent="0">
              <a:buNone/>
            </a:pPr>
            <a:r>
              <a:rPr lang="en-US" sz="1800" b="1">
                <a:solidFill>
                  <a:srgbClr val="8A5730"/>
                </a:solidFill>
                <a:latin typeface="Calibri" pitchFamily="34" charset="0"/>
                <a:ea typeface="Calibri" pitchFamily="34" charset="-122"/>
                <a:cs typeface="Calibri" pitchFamily="34" charset="-120"/>
              </a:rPr>
              <a:t>Export</a:t>
            </a:r>
            <a:endParaRPr lang="en-US" sz="1800"/>
          </a:p>
        </p:txBody>
      </p:sp>
      <p:sp>
        <p:nvSpPr>
          <p:cNvPr id="11" name="Text 9"/>
          <p:cNvSpPr/>
          <p:nvPr/>
        </p:nvSpPr>
        <p:spPr>
          <a:xfrm>
            <a:off x="1325880" y="4626864"/>
            <a:ext cx="4937760" cy="822960"/>
          </a:xfrm>
          <a:prstGeom prst="rect">
            <a:avLst/>
          </a:prstGeom>
          <a:noFill/>
          <a:ln/>
        </p:spPr>
        <p:txBody>
          <a:bodyPr wrap="square" rtlCol="0" anchor="ctr"/>
          <a:lstStyle/>
          <a:p>
            <a:pPr marL="0" indent="0">
              <a:lnSpc>
                <a:spcPts val="1800"/>
              </a:lnSpc>
              <a:buNone/>
            </a:pPr>
            <a:r>
              <a:rPr lang="en-US" sz="1350">
                <a:solidFill>
                  <a:srgbClr val="6E5D54"/>
                </a:solidFill>
                <a:latin typeface="Calibri" pitchFamily="34" charset="0"/>
                <a:ea typeface="Calibri" pitchFamily="34" charset="-122"/>
                <a:cs typeface="Calibri" pitchFamily="34" charset="-120"/>
              </a:rPr>
              <a:t>The signed quote is exported as a clean, professional PDF the family can keep or forward.</a:t>
            </a:r>
            <a:endParaRPr lang="en-US" sz="1350"/>
          </a:p>
        </p:txBody>
      </p:sp>
      <p:sp>
        <p:nvSpPr>
          <p:cNvPr id="12" name="Shape 10"/>
          <p:cNvSpPr/>
          <p:nvPr/>
        </p:nvSpPr>
        <p:spPr>
          <a:xfrm>
            <a:off x="6720840" y="1234440"/>
            <a:ext cx="4937760" cy="4800600"/>
          </a:xfrm>
          <a:prstGeom prst="roundRect">
            <a:avLst>
              <a:gd name="adj" fmla="val 2286"/>
            </a:avLst>
          </a:prstGeom>
          <a:solidFill>
            <a:srgbClr val="FBF6F1"/>
          </a:solidFill>
          <a:ln w="12700">
            <a:solidFill>
              <a:srgbClr val="F1E7DE"/>
            </a:solidFill>
            <a:prstDash val="solid"/>
          </a:ln>
        </p:spPr>
        <p:txBody>
          <a:bodyPr/>
          <a:lstStyle/>
          <a:p>
            <a:endParaRPr lang="en-SG"/>
          </a:p>
        </p:txBody>
      </p:sp>
      <p:pic>
        <p:nvPicPr>
          <p:cNvPr id="13" name="Image 0" descr="assets/quote_card.png"/>
          <p:cNvPicPr>
            <a:picLocks noChangeAspect="1"/>
          </p:cNvPicPr>
          <p:nvPr/>
        </p:nvPicPr>
        <p:blipFill>
          <a:blip r:embed="rId3"/>
          <a:stretch>
            <a:fillRect/>
          </a:stretch>
        </p:blipFill>
        <p:spPr>
          <a:xfrm>
            <a:off x="6903720" y="1417320"/>
            <a:ext cx="4572000" cy="4434840"/>
          </a:xfrm>
          <a:prstGeom prst="rect">
            <a:avLst/>
          </a:prstGeom>
        </p:spPr>
      </p:pic>
      <p:sp>
        <p:nvSpPr>
          <p:cNvPr id="14" name="Text 11"/>
          <p:cNvSpPr/>
          <p:nvPr/>
        </p:nvSpPr>
        <p:spPr>
          <a:xfrm>
            <a:off x="457200" y="6446520"/>
            <a:ext cx="7315200" cy="274320"/>
          </a:xfrm>
          <a:prstGeom prst="rect">
            <a:avLst/>
          </a:prstGeom>
          <a:noFill/>
          <a:ln/>
        </p:spPr>
        <p:txBody>
          <a:bodyPr wrap="square" rtlCol="0" anchor="ctr"/>
          <a:lstStyle/>
          <a:p>
            <a:pPr marL="0" indent="0" algn="l">
              <a:buNone/>
            </a:pPr>
            <a:r>
              <a:rPr lang="en-US" sz="900">
                <a:solidFill>
                  <a:srgbClr val="6E5D54"/>
                </a:solidFill>
                <a:latin typeface="Calibri" pitchFamily="34" charset="0"/>
                <a:ea typeface="Calibri" pitchFamily="34" charset="-122"/>
                <a:cs typeface="Calibri" pitchFamily="34" charset="-120"/>
              </a:rPr>
              <a:t>Klass Dignity Care  ·  E-Signature &amp; Intake Gateway</a:t>
            </a:r>
            <a:endParaRPr lang="en-US" sz="900"/>
          </a:p>
        </p:txBody>
      </p:sp>
      <p:sp>
        <p:nvSpPr>
          <p:cNvPr id="15" name="Text 12"/>
          <p:cNvSpPr/>
          <p:nvPr/>
        </p:nvSpPr>
        <p:spPr>
          <a:xfrm>
            <a:off x="11338560" y="6446520"/>
            <a:ext cx="457200" cy="274320"/>
          </a:xfrm>
          <a:prstGeom prst="rect">
            <a:avLst/>
          </a:prstGeom>
          <a:noFill/>
          <a:ln/>
        </p:spPr>
        <p:txBody>
          <a:bodyPr wrap="square" rtlCol="0" anchor="ctr"/>
          <a:lstStyle/>
          <a:p>
            <a:pPr marL="0" indent="0" algn="r">
              <a:buNone/>
            </a:pPr>
            <a:r>
              <a:rPr lang="en-US" sz="900">
                <a:solidFill>
                  <a:srgbClr val="6E5D54"/>
                </a:solidFill>
                <a:latin typeface="Calibri" pitchFamily="34" charset="0"/>
                <a:ea typeface="Calibri" pitchFamily="34" charset="-122"/>
                <a:cs typeface="Calibri" pitchFamily="34" charset="-120"/>
              </a:rPr>
              <a:t>2</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rtlCol="0" anchor="ctr"/>
          <a:lstStyle/>
          <a:p>
            <a:pPr marL="0" indent="0">
              <a:buNone/>
            </a:pPr>
            <a:r>
              <a:rPr lang="en-US" sz="3200" b="1">
                <a:solidFill>
                  <a:srgbClr val="2D1A12"/>
                </a:solidFill>
                <a:latin typeface="Bookman Old Style" pitchFamily="34" charset="0"/>
                <a:ea typeface="Bookman Old Style" pitchFamily="34" charset="-122"/>
                <a:cs typeface="Bookman Old Style" pitchFamily="34" charset="-120"/>
              </a:rPr>
              <a:t>Requirements</a:t>
            </a:r>
            <a:endParaRPr lang="en-US" sz="3200"/>
          </a:p>
        </p:txBody>
      </p:sp>
      <p:sp>
        <p:nvSpPr>
          <p:cNvPr id="4" name="Shape 2"/>
          <p:cNvSpPr/>
          <p:nvPr/>
        </p:nvSpPr>
        <p:spPr>
          <a:xfrm>
            <a:off x="457200" y="1570315"/>
            <a:ext cx="5198292" cy="4487817"/>
          </a:xfrm>
          <a:prstGeom prst="roundRect">
            <a:avLst>
              <a:gd name="adj" fmla="val 2449"/>
            </a:avLst>
          </a:prstGeom>
          <a:solidFill>
            <a:srgbClr val="FBF6F1"/>
          </a:solidFill>
          <a:ln w="12700">
            <a:solidFill>
              <a:srgbClr val="F1E7DE"/>
            </a:solidFill>
            <a:prstDash val="solid"/>
          </a:ln>
        </p:spPr>
        <p:txBody>
          <a:bodyPr/>
          <a:lstStyle/>
          <a:p>
            <a:endParaRPr lang="en-SG"/>
          </a:p>
        </p:txBody>
      </p:sp>
      <p:sp>
        <p:nvSpPr>
          <p:cNvPr id="5" name="Text 3"/>
          <p:cNvSpPr/>
          <p:nvPr/>
        </p:nvSpPr>
        <p:spPr>
          <a:xfrm>
            <a:off x="731520" y="1810512"/>
            <a:ext cx="1371600" cy="310896"/>
          </a:xfrm>
          <a:prstGeom prst="roundRect">
            <a:avLst>
              <a:gd name="adj" fmla="val 50000"/>
            </a:avLst>
          </a:prstGeom>
          <a:solidFill>
            <a:srgbClr val="F1E7DE"/>
          </a:solidFill>
          <a:ln/>
        </p:spPr>
        <p:txBody>
          <a:bodyPr wrap="square" lIns="0" tIns="0" rIns="0" bIns="0" rtlCol="0" anchor="ctr"/>
          <a:lstStyle/>
          <a:p>
            <a:pPr marL="0" indent="0" algn="ctr">
              <a:buNone/>
            </a:pPr>
            <a:r>
              <a:rPr lang="en-US" sz="1100" b="1">
                <a:solidFill>
                  <a:srgbClr val="8A5730"/>
                </a:solidFill>
                <a:latin typeface="Calibri" pitchFamily="34" charset="0"/>
                <a:ea typeface="Calibri" pitchFamily="34" charset="-122"/>
                <a:cs typeface="Calibri" pitchFamily="34" charset="-120"/>
              </a:rPr>
              <a:t>HARDWARE</a:t>
            </a:r>
            <a:endParaRPr lang="en-US" sz="1100"/>
          </a:p>
        </p:txBody>
      </p:sp>
      <p:sp>
        <p:nvSpPr>
          <p:cNvPr id="6" name="Text 4"/>
          <p:cNvSpPr/>
          <p:nvPr/>
        </p:nvSpPr>
        <p:spPr>
          <a:xfrm>
            <a:off x="731520" y="2267712"/>
            <a:ext cx="4937760" cy="411480"/>
          </a:xfrm>
          <a:prstGeom prst="rect">
            <a:avLst/>
          </a:prstGeom>
          <a:noFill/>
          <a:ln/>
        </p:spPr>
        <p:txBody>
          <a:bodyPr wrap="square" rtlCol="0" anchor="ctr"/>
          <a:lstStyle/>
          <a:p>
            <a:pPr marL="0" indent="0">
              <a:buNone/>
            </a:pPr>
            <a:r>
              <a:rPr lang="en-US" sz="1700" b="1">
                <a:solidFill>
                  <a:srgbClr val="2D1A12"/>
                </a:solidFill>
                <a:latin typeface="Calibri" pitchFamily="34" charset="0"/>
                <a:ea typeface="Calibri" pitchFamily="34" charset="-122"/>
                <a:cs typeface="Calibri" pitchFamily="34" charset="-120"/>
              </a:rPr>
              <a:t>Touch-enabled client device</a:t>
            </a:r>
            <a:endParaRPr lang="en-US" sz="1700"/>
          </a:p>
        </p:txBody>
      </p:sp>
      <p:sp>
        <p:nvSpPr>
          <p:cNvPr id="14" name="Text 12"/>
          <p:cNvSpPr/>
          <p:nvPr/>
        </p:nvSpPr>
        <p:spPr>
          <a:xfrm>
            <a:off x="853440" y="2753465"/>
            <a:ext cx="4480560" cy="292608"/>
          </a:xfrm>
          <a:prstGeom prst="rect">
            <a:avLst/>
          </a:prstGeom>
          <a:noFill/>
          <a:ln/>
        </p:spPr>
        <p:txBody>
          <a:bodyPr wrap="square" lIns="0" tIns="0" rIns="0" bIns="0" rtlCol="0" anchor="ctr"/>
          <a:lstStyle/>
          <a:p>
            <a:pPr marL="0" indent="0">
              <a:buNone/>
            </a:pPr>
            <a:r>
              <a:rPr lang="en-US" sz="2400" b="1">
                <a:solidFill>
                  <a:srgbClr val="8A5730"/>
                </a:solidFill>
                <a:latin typeface="Calibri" pitchFamily="34" charset="0"/>
                <a:ea typeface="Calibri" pitchFamily="34" charset="-122"/>
                <a:cs typeface="Calibri" pitchFamily="34" charset="-120"/>
              </a:rPr>
              <a:t>PC / Laptop</a:t>
            </a:r>
            <a:endParaRPr lang="en-US" sz="2400"/>
          </a:p>
        </p:txBody>
      </p:sp>
      <p:sp>
        <p:nvSpPr>
          <p:cNvPr id="15" name="Text 13"/>
          <p:cNvSpPr/>
          <p:nvPr/>
        </p:nvSpPr>
        <p:spPr>
          <a:xfrm>
            <a:off x="853440" y="3047630"/>
            <a:ext cx="4480560" cy="457200"/>
          </a:xfrm>
          <a:prstGeom prst="rect">
            <a:avLst/>
          </a:prstGeom>
          <a:noFill/>
          <a:ln/>
        </p:spPr>
        <p:txBody>
          <a:bodyPr wrap="square" lIns="0" tIns="0" rIns="0" bIns="0" rtlCol="0" anchor="ctr"/>
          <a:lstStyle/>
          <a:p>
            <a:pPr marL="0" indent="0">
              <a:lnSpc>
                <a:spcPts val="1600"/>
              </a:lnSpc>
              <a:buNone/>
            </a:pPr>
            <a:r>
              <a:rPr lang="en-US" sz="1600">
                <a:solidFill>
                  <a:srgbClr val="6E5D54"/>
                </a:solidFill>
                <a:latin typeface="Calibri" pitchFamily="34" charset="0"/>
                <a:ea typeface="Calibri" pitchFamily="34" charset="-122"/>
                <a:cs typeface="Calibri" pitchFamily="34" charset="-120"/>
              </a:rPr>
              <a:t>Signs with a mouse and trackpad</a:t>
            </a:r>
            <a:endParaRPr lang="en-US" sz="1600"/>
          </a:p>
        </p:txBody>
      </p:sp>
      <p:sp>
        <p:nvSpPr>
          <p:cNvPr id="30" name="Text 28"/>
          <p:cNvSpPr/>
          <p:nvPr/>
        </p:nvSpPr>
        <p:spPr>
          <a:xfrm>
            <a:off x="457200" y="6446520"/>
            <a:ext cx="7315200" cy="274320"/>
          </a:xfrm>
          <a:prstGeom prst="rect">
            <a:avLst/>
          </a:prstGeom>
          <a:noFill/>
          <a:ln/>
        </p:spPr>
        <p:txBody>
          <a:bodyPr wrap="square" rtlCol="0" anchor="ctr"/>
          <a:lstStyle/>
          <a:p>
            <a:pPr marL="0" indent="0" algn="l">
              <a:buNone/>
            </a:pPr>
            <a:r>
              <a:rPr lang="en-US" sz="900">
                <a:solidFill>
                  <a:srgbClr val="6E5D54"/>
                </a:solidFill>
                <a:latin typeface="Calibri" pitchFamily="34" charset="0"/>
                <a:ea typeface="Calibri" pitchFamily="34" charset="-122"/>
                <a:cs typeface="Calibri" pitchFamily="34" charset="-120"/>
              </a:rPr>
              <a:t>Klass Dignity Care  ·  E-Signature &amp; Intake Gateway</a:t>
            </a:r>
            <a:endParaRPr lang="en-US" sz="900"/>
          </a:p>
        </p:txBody>
      </p:sp>
      <p:sp>
        <p:nvSpPr>
          <p:cNvPr id="31" name="Text 29"/>
          <p:cNvSpPr/>
          <p:nvPr/>
        </p:nvSpPr>
        <p:spPr>
          <a:xfrm>
            <a:off x="11338560" y="6446520"/>
            <a:ext cx="457200" cy="274320"/>
          </a:xfrm>
          <a:prstGeom prst="rect">
            <a:avLst/>
          </a:prstGeom>
          <a:noFill/>
          <a:ln/>
        </p:spPr>
        <p:txBody>
          <a:bodyPr wrap="square" rtlCol="0" anchor="ctr"/>
          <a:lstStyle/>
          <a:p>
            <a:pPr marL="0" indent="0" algn="r">
              <a:buNone/>
            </a:pPr>
            <a:r>
              <a:rPr lang="en-US" sz="900">
                <a:solidFill>
                  <a:srgbClr val="6E5D54"/>
                </a:solidFill>
                <a:latin typeface="Calibri" pitchFamily="34" charset="0"/>
                <a:ea typeface="Calibri" pitchFamily="34" charset="-122"/>
                <a:cs typeface="Calibri" pitchFamily="34" charset="-120"/>
              </a:rPr>
              <a:t>3</a:t>
            </a:r>
            <a:endParaRPr lang="en-US" sz="900"/>
          </a:p>
        </p:txBody>
      </p:sp>
      <p:sp>
        <p:nvSpPr>
          <p:cNvPr id="33" name="Text 12">
            <a:extLst>
              <a:ext uri="{FF2B5EF4-FFF2-40B4-BE49-F238E27FC236}">
                <a16:creationId xmlns:a16="http://schemas.microsoft.com/office/drawing/2014/main" id="{4A0CB56C-7437-FB6B-8125-9A75C3A28CC6}"/>
              </a:ext>
            </a:extLst>
          </p:cNvPr>
          <p:cNvSpPr/>
          <p:nvPr/>
        </p:nvSpPr>
        <p:spPr>
          <a:xfrm>
            <a:off x="960120" y="4977539"/>
            <a:ext cx="4480560" cy="292608"/>
          </a:xfrm>
          <a:prstGeom prst="rect">
            <a:avLst/>
          </a:prstGeom>
          <a:noFill/>
          <a:ln/>
        </p:spPr>
        <p:txBody>
          <a:bodyPr wrap="square" lIns="0" tIns="0" rIns="0" bIns="0" rtlCol="0" anchor="ctr"/>
          <a:lstStyle/>
          <a:p>
            <a:pPr marL="0" indent="0">
              <a:buNone/>
            </a:pPr>
            <a:r>
              <a:rPr lang="en-US" b="1">
                <a:solidFill>
                  <a:srgbClr val="8A5730"/>
                </a:solidFill>
                <a:latin typeface="Calibri" pitchFamily="34" charset="0"/>
                <a:ea typeface="Calibri" pitchFamily="34" charset="-122"/>
                <a:cs typeface="Calibri" pitchFamily="34" charset="-120"/>
              </a:rPr>
              <a:t>More to come…. (iPad, smartphones)</a:t>
            </a:r>
            <a:endParaRPr lang="en-US"/>
          </a:p>
        </p:txBody>
      </p:sp>
      <p:pic>
        <p:nvPicPr>
          <p:cNvPr id="13" name="Picture 12">
            <a:extLst>
              <a:ext uri="{FF2B5EF4-FFF2-40B4-BE49-F238E27FC236}">
                <a16:creationId xmlns:a16="http://schemas.microsoft.com/office/drawing/2014/main" id="{D52452BB-D7B9-D29A-289A-F097394AFE3E}"/>
              </a:ext>
            </a:extLst>
          </p:cNvPr>
          <p:cNvPicPr>
            <a:picLocks noChangeAspect="1"/>
          </p:cNvPicPr>
          <p:nvPr/>
        </p:nvPicPr>
        <p:blipFill>
          <a:blip r:embed="rId3"/>
          <a:stretch>
            <a:fillRect/>
          </a:stretch>
        </p:blipFill>
        <p:spPr>
          <a:xfrm>
            <a:off x="5778184" y="1023256"/>
            <a:ext cx="6143802" cy="50364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515600" cy="640080"/>
          </a:xfrm>
          <a:prstGeom prst="rect">
            <a:avLst/>
          </a:prstGeom>
          <a:noFill/>
          <a:ln/>
        </p:spPr>
        <p:txBody>
          <a:bodyPr wrap="square" rtlCol="0" anchor="ctr"/>
          <a:lstStyle/>
          <a:p>
            <a:pPr marL="0" indent="0">
              <a:buNone/>
            </a:pPr>
            <a:r>
              <a:rPr lang="en-US" sz="3000" b="1">
                <a:solidFill>
                  <a:srgbClr val="2D1A12"/>
                </a:solidFill>
                <a:latin typeface="Bookman Old Style" pitchFamily="34" charset="0"/>
                <a:ea typeface="Bookman Old Style" pitchFamily="34" charset="-122"/>
                <a:cs typeface="Bookman Old Style" pitchFamily="34" charset="-120"/>
              </a:rPr>
              <a:t>How it works — the signature pipeline</a:t>
            </a:r>
            <a:endParaRPr lang="en-US" sz="3000"/>
          </a:p>
        </p:txBody>
      </p:sp>
      <p:sp>
        <p:nvSpPr>
          <p:cNvPr id="3" name="Text 1"/>
          <p:cNvSpPr/>
          <p:nvPr/>
        </p:nvSpPr>
        <p:spPr>
          <a:xfrm>
            <a:off x="457200" y="987552"/>
            <a:ext cx="10058400" cy="365760"/>
          </a:xfrm>
          <a:prstGeom prst="rect">
            <a:avLst/>
          </a:prstGeom>
          <a:noFill/>
          <a:ln/>
        </p:spPr>
        <p:txBody>
          <a:bodyPr wrap="square" rtlCol="0" anchor="ctr"/>
          <a:lstStyle/>
          <a:p>
            <a:pPr marL="0" indent="0">
              <a:buNone/>
            </a:pPr>
            <a:r>
              <a:rPr lang="en-US" sz="1350">
                <a:solidFill>
                  <a:srgbClr val="6E5D54"/>
                </a:solidFill>
                <a:latin typeface="Calibri" pitchFamily="34" charset="0"/>
                <a:ea typeface="Calibri" pitchFamily="34" charset="-122"/>
                <a:cs typeface="Calibri" pitchFamily="34" charset="-120"/>
              </a:rPr>
              <a:t>From the client's finger on the screen to a finished, executed PDF quote.</a:t>
            </a:r>
            <a:endParaRPr lang="en-US" sz="1350"/>
          </a:p>
        </p:txBody>
      </p:sp>
      <p:sp>
        <p:nvSpPr>
          <p:cNvPr id="4" name="Shape 2"/>
          <p:cNvSpPr/>
          <p:nvPr/>
        </p:nvSpPr>
        <p:spPr>
          <a:xfrm>
            <a:off x="457200" y="1572768"/>
            <a:ext cx="1572768" cy="1371600"/>
          </a:xfrm>
          <a:prstGeom prst="roundRect">
            <a:avLst>
              <a:gd name="adj" fmla="val 6000"/>
            </a:avLst>
          </a:prstGeom>
          <a:solidFill>
            <a:srgbClr val="FBF6F1"/>
          </a:solidFill>
          <a:ln w="12700">
            <a:solidFill>
              <a:srgbClr val="B5764A"/>
            </a:solidFill>
            <a:prstDash val="solid"/>
          </a:ln>
        </p:spPr>
        <p:txBody>
          <a:bodyPr/>
          <a:lstStyle/>
          <a:p>
            <a:endParaRPr lang="en-SG"/>
          </a:p>
        </p:txBody>
      </p:sp>
      <p:sp>
        <p:nvSpPr>
          <p:cNvPr id="5" name="Text 3"/>
          <p:cNvSpPr/>
          <p:nvPr/>
        </p:nvSpPr>
        <p:spPr>
          <a:xfrm>
            <a:off x="512064" y="1755648"/>
            <a:ext cx="1463040" cy="548640"/>
          </a:xfrm>
          <a:prstGeom prst="rect">
            <a:avLst/>
          </a:prstGeom>
          <a:noFill/>
          <a:ln/>
        </p:spPr>
        <p:txBody>
          <a:bodyPr wrap="square" lIns="0" tIns="0" rIns="0" bIns="0" rtlCol="0" anchor="ctr"/>
          <a:lstStyle/>
          <a:p>
            <a:pPr marL="0" indent="0" algn="ctr">
              <a:lnSpc>
                <a:spcPts val="1400"/>
              </a:lnSpc>
              <a:buNone/>
            </a:pPr>
            <a:r>
              <a:rPr lang="en-US" sz="1150" b="1">
                <a:solidFill>
                  <a:srgbClr val="8A5730"/>
                </a:solidFill>
                <a:latin typeface="Calibri" pitchFamily="34" charset="0"/>
                <a:ea typeface="Calibri" pitchFamily="34" charset="-122"/>
                <a:cs typeface="Calibri" pitchFamily="34" charset="-120"/>
              </a:rPr>
              <a:t>User</a:t>
            </a:r>
            <a:endParaRPr lang="en-US" sz="1150"/>
          </a:p>
          <a:p>
            <a:pPr marL="0" indent="0" algn="ctr">
              <a:lnSpc>
                <a:spcPts val="1400"/>
              </a:lnSpc>
              <a:buNone/>
            </a:pPr>
            <a:r>
              <a:rPr lang="en-US" sz="1150" b="1">
                <a:solidFill>
                  <a:srgbClr val="8A5730"/>
                </a:solidFill>
                <a:latin typeface="Calibri" pitchFamily="34" charset="0"/>
                <a:ea typeface="Calibri" pitchFamily="34" charset="-122"/>
                <a:cs typeface="Calibri" pitchFamily="34" charset="-120"/>
              </a:rPr>
              <a:t>Drawing</a:t>
            </a:r>
            <a:endParaRPr lang="en-US" sz="1150"/>
          </a:p>
        </p:txBody>
      </p:sp>
      <p:sp>
        <p:nvSpPr>
          <p:cNvPr id="6" name="Text 4"/>
          <p:cNvSpPr/>
          <p:nvPr/>
        </p:nvSpPr>
        <p:spPr>
          <a:xfrm>
            <a:off x="512064" y="2359152"/>
            <a:ext cx="1463040" cy="457200"/>
          </a:xfrm>
          <a:prstGeom prst="rect">
            <a:avLst/>
          </a:prstGeom>
          <a:noFill/>
          <a:ln/>
        </p:spPr>
        <p:txBody>
          <a:bodyPr wrap="square" lIns="0" tIns="0" rIns="0" bIns="0" rtlCol="0" anchor="t"/>
          <a:lstStyle/>
          <a:p>
            <a:pPr marL="0" indent="0" algn="ctr">
              <a:lnSpc>
                <a:spcPts val="1100"/>
              </a:lnSpc>
              <a:buNone/>
            </a:pPr>
            <a:r>
              <a:rPr lang="en-US" sz="850">
                <a:solidFill>
                  <a:srgbClr val="6E5D54"/>
                </a:solidFill>
                <a:latin typeface="Calibri" pitchFamily="34" charset="0"/>
                <a:ea typeface="Calibri" pitchFamily="34" charset="-122"/>
                <a:cs typeface="Calibri" pitchFamily="34" charset="-120"/>
              </a:rPr>
              <a:t>finger / stylus</a:t>
            </a:r>
            <a:endParaRPr lang="en-US" sz="850"/>
          </a:p>
          <a:p>
            <a:pPr marL="0" indent="0" algn="ctr">
              <a:lnSpc>
                <a:spcPts val="1100"/>
              </a:lnSpc>
              <a:buNone/>
            </a:pPr>
            <a:r>
              <a:rPr lang="en-US" sz="850">
                <a:solidFill>
                  <a:srgbClr val="6E5D54"/>
                </a:solidFill>
                <a:latin typeface="Calibri" pitchFamily="34" charset="0"/>
                <a:ea typeface="Calibri" pitchFamily="34" charset="-122"/>
                <a:cs typeface="Calibri" pitchFamily="34" charset="-120"/>
              </a:rPr>
              <a:t>or mouse</a:t>
            </a:r>
            <a:endParaRPr lang="en-US" sz="850"/>
          </a:p>
        </p:txBody>
      </p:sp>
      <p:sp>
        <p:nvSpPr>
          <p:cNvPr id="7" name="Text 5"/>
          <p:cNvSpPr/>
          <p:nvPr/>
        </p:nvSpPr>
        <p:spPr>
          <a:xfrm>
            <a:off x="2029968" y="2075688"/>
            <a:ext cx="329184" cy="365760"/>
          </a:xfrm>
          <a:prstGeom prst="rect">
            <a:avLst/>
          </a:prstGeom>
          <a:noFill/>
          <a:ln/>
        </p:spPr>
        <p:txBody>
          <a:bodyPr wrap="square" lIns="0" tIns="0" rIns="0" bIns="0" rtlCol="0" anchor="ctr"/>
          <a:lstStyle/>
          <a:p>
            <a:pPr marL="0" indent="0" algn="ctr">
              <a:buNone/>
            </a:pPr>
            <a:r>
              <a:rPr lang="en-US" sz="1300">
                <a:solidFill>
                  <a:srgbClr val="B5764A"/>
                </a:solidFill>
                <a:latin typeface="Calibri" pitchFamily="34" charset="0"/>
                <a:ea typeface="Calibri" pitchFamily="34" charset="-122"/>
                <a:cs typeface="Calibri" pitchFamily="34" charset="-120"/>
              </a:rPr>
              <a:t>▶</a:t>
            </a:r>
            <a:endParaRPr lang="en-US" sz="1300"/>
          </a:p>
        </p:txBody>
      </p:sp>
      <p:sp>
        <p:nvSpPr>
          <p:cNvPr id="8" name="Shape 6"/>
          <p:cNvSpPr/>
          <p:nvPr/>
        </p:nvSpPr>
        <p:spPr>
          <a:xfrm>
            <a:off x="2359152" y="1572768"/>
            <a:ext cx="1572768" cy="1371600"/>
          </a:xfrm>
          <a:prstGeom prst="roundRect">
            <a:avLst>
              <a:gd name="adj" fmla="val 6000"/>
            </a:avLst>
          </a:prstGeom>
          <a:solidFill>
            <a:srgbClr val="FBF6F1"/>
          </a:solidFill>
          <a:ln w="12700">
            <a:solidFill>
              <a:srgbClr val="B5764A"/>
            </a:solidFill>
            <a:prstDash val="solid"/>
          </a:ln>
        </p:spPr>
        <p:txBody>
          <a:bodyPr/>
          <a:lstStyle/>
          <a:p>
            <a:endParaRPr lang="en-SG"/>
          </a:p>
        </p:txBody>
      </p:sp>
      <p:sp>
        <p:nvSpPr>
          <p:cNvPr id="9" name="Text 7"/>
          <p:cNvSpPr/>
          <p:nvPr/>
        </p:nvSpPr>
        <p:spPr>
          <a:xfrm>
            <a:off x="2414016" y="1755648"/>
            <a:ext cx="1463040" cy="548640"/>
          </a:xfrm>
          <a:prstGeom prst="rect">
            <a:avLst/>
          </a:prstGeom>
          <a:noFill/>
          <a:ln/>
        </p:spPr>
        <p:txBody>
          <a:bodyPr wrap="square" lIns="0" tIns="0" rIns="0" bIns="0" rtlCol="0" anchor="ctr"/>
          <a:lstStyle/>
          <a:p>
            <a:pPr marL="0" indent="0" algn="ctr">
              <a:lnSpc>
                <a:spcPts val="1400"/>
              </a:lnSpc>
              <a:buNone/>
            </a:pPr>
            <a:r>
              <a:rPr lang="en-US" sz="1150" b="1">
                <a:solidFill>
                  <a:srgbClr val="8A5730"/>
                </a:solidFill>
                <a:latin typeface="Calibri" pitchFamily="34" charset="0"/>
                <a:ea typeface="Calibri" pitchFamily="34" charset="-122"/>
                <a:cs typeface="Calibri" pitchFamily="34" charset="-120"/>
              </a:rPr>
              <a:t>HTML5</a:t>
            </a:r>
            <a:endParaRPr lang="en-US" sz="1150"/>
          </a:p>
          <a:p>
            <a:pPr marL="0" indent="0" algn="ctr">
              <a:lnSpc>
                <a:spcPts val="1400"/>
              </a:lnSpc>
              <a:buNone/>
            </a:pPr>
            <a:r>
              <a:rPr lang="en-US" sz="1150" b="1">
                <a:solidFill>
                  <a:srgbClr val="8A5730"/>
                </a:solidFill>
                <a:latin typeface="Calibri" pitchFamily="34" charset="0"/>
                <a:ea typeface="Calibri" pitchFamily="34" charset="-122"/>
                <a:cs typeface="Calibri" pitchFamily="34" charset="-120"/>
              </a:rPr>
              <a:t>Canvas</a:t>
            </a:r>
            <a:endParaRPr lang="en-US" sz="1150"/>
          </a:p>
        </p:txBody>
      </p:sp>
      <p:sp>
        <p:nvSpPr>
          <p:cNvPr id="10" name="Text 8"/>
          <p:cNvSpPr/>
          <p:nvPr/>
        </p:nvSpPr>
        <p:spPr>
          <a:xfrm>
            <a:off x="2414016" y="2359152"/>
            <a:ext cx="1463040" cy="457200"/>
          </a:xfrm>
          <a:prstGeom prst="rect">
            <a:avLst/>
          </a:prstGeom>
          <a:noFill/>
          <a:ln/>
        </p:spPr>
        <p:txBody>
          <a:bodyPr wrap="square" lIns="0" tIns="0" rIns="0" bIns="0" rtlCol="0" anchor="t"/>
          <a:lstStyle/>
          <a:p>
            <a:pPr marL="0" indent="0" algn="ctr">
              <a:lnSpc>
                <a:spcPts val="1100"/>
              </a:lnSpc>
              <a:buNone/>
            </a:pPr>
            <a:r>
              <a:rPr lang="en-US" sz="850">
                <a:solidFill>
                  <a:srgbClr val="6E5D54"/>
                </a:solidFill>
                <a:latin typeface="Calibri" pitchFamily="34" charset="0"/>
                <a:ea typeface="Calibri" pitchFamily="34" charset="-122"/>
                <a:cs typeface="Calibri" pitchFamily="34" charset="-120"/>
              </a:rPr>
              <a:t>strokes drawn</a:t>
            </a:r>
            <a:endParaRPr lang="en-US" sz="850"/>
          </a:p>
          <a:p>
            <a:pPr marL="0" indent="0" algn="ctr">
              <a:lnSpc>
                <a:spcPts val="1100"/>
              </a:lnSpc>
              <a:buNone/>
            </a:pPr>
            <a:r>
              <a:rPr lang="en-US" sz="850">
                <a:solidFill>
                  <a:srgbClr val="6E5D54"/>
                </a:solidFill>
                <a:latin typeface="Calibri" pitchFamily="34" charset="0"/>
                <a:ea typeface="Calibri" pitchFamily="34" charset="-122"/>
                <a:cs typeface="Calibri" pitchFamily="34" charset="-120"/>
              </a:rPr>
              <a:t>live</a:t>
            </a:r>
            <a:endParaRPr lang="en-US" sz="850"/>
          </a:p>
        </p:txBody>
      </p:sp>
      <p:sp>
        <p:nvSpPr>
          <p:cNvPr id="11" name="Text 9"/>
          <p:cNvSpPr/>
          <p:nvPr/>
        </p:nvSpPr>
        <p:spPr>
          <a:xfrm>
            <a:off x="3931920" y="2075688"/>
            <a:ext cx="329184" cy="365760"/>
          </a:xfrm>
          <a:prstGeom prst="rect">
            <a:avLst/>
          </a:prstGeom>
          <a:noFill/>
          <a:ln/>
        </p:spPr>
        <p:txBody>
          <a:bodyPr wrap="square" lIns="0" tIns="0" rIns="0" bIns="0" rtlCol="0" anchor="ctr"/>
          <a:lstStyle/>
          <a:p>
            <a:pPr marL="0" indent="0" algn="ctr">
              <a:buNone/>
            </a:pPr>
            <a:r>
              <a:rPr lang="en-US" sz="1300">
                <a:solidFill>
                  <a:srgbClr val="B5764A"/>
                </a:solidFill>
                <a:latin typeface="Calibri" pitchFamily="34" charset="0"/>
                <a:ea typeface="Calibri" pitchFamily="34" charset="-122"/>
                <a:cs typeface="Calibri" pitchFamily="34" charset="-120"/>
              </a:rPr>
              <a:t>▶</a:t>
            </a:r>
            <a:endParaRPr lang="en-US" sz="1300"/>
          </a:p>
        </p:txBody>
      </p:sp>
      <p:sp>
        <p:nvSpPr>
          <p:cNvPr id="12" name="Shape 10"/>
          <p:cNvSpPr/>
          <p:nvPr/>
        </p:nvSpPr>
        <p:spPr>
          <a:xfrm>
            <a:off x="4261104" y="1572768"/>
            <a:ext cx="1572768" cy="1371600"/>
          </a:xfrm>
          <a:prstGeom prst="roundRect">
            <a:avLst>
              <a:gd name="adj" fmla="val 6000"/>
            </a:avLst>
          </a:prstGeom>
          <a:solidFill>
            <a:srgbClr val="FBF6F1"/>
          </a:solidFill>
          <a:ln w="12700">
            <a:solidFill>
              <a:srgbClr val="B5764A"/>
            </a:solidFill>
            <a:prstDash val="solid"/>
          </a:ln>
        </p:spPr>
        <p:txBody>
          <a:bodyPr/>
          <a:lstStyle/>
          <a:p>
            <a:endParaRPr lang="en-SG"/>
          </a:p>
        </p:txBody>
      </p:sp>
      <p:sp>
        <p:nvSpPr>
          <p:cNvPr id="13" name="Text 11"/>
          <p:cNvSpPr/>
          <p:nvPr/>
        </p:nvSpPr>
        <p:spPr>
          <a:xfrm>
            <a:off x="4315968" y="1755648"/>
            <a:ext cx="1463040" cy="548640"/>
          </a:xfrm>
          <a:prstGeom prst="rect">
            <a:avLst/>
          </a:prstGeom>
          <a:noFill/>
          <a:ln/>
        </p:spPr>
        <p:txBody>
          <a:bodyPr wrap="square" lIns="0" tIns="0" rIns="0" bIns="0" rtlCol="0" anchor="ctr"/>
          <a:lstStyle/>
          <a:p>
            <a:pPr marL="0" indent="0" algn="ctr">
              <a:lnSpc>
                <a:spcPts val="1400"/>
              </a:lnSpc>
              <a:buNone/>
            </a:pPr>
            <a:r>
              <a:rPr lang="en-US" sz="1150" b="1">
                <a:solidFill>
                  <a:srgbClr val="8A5730"/>
                </a:solidFill>
                <a:latin typeface="Calibri" pitchFamily="34" charset="0"/>
                <a:ea typeface="Calibri" pitchFamily="34" charset="-122"/>
                <a:cs typeface="Calibri" pitchFamily="34" charset="-120"/>
              </a:rPr>
              <a:t>Base64</a:t>
            </a:r>
            <a:endParaRPr lang="en-US" sz="1150"/>
          </a:p>
          <a:p>
            <a:pPr marL="0" indent="0" algn="ctr">
              <a:lnSpc>
                <a:spcPts val="1400"/>
              </a:lnSpc>
              <a:buNone/>
            </a:pPr>
            <a:r>
              <a:rPr lang="en-US" sz="1150" b="1">
                <a:solidFill>
                  <a:srgbClr val="8A5730"/>
                </a:solidFill>
                <a:latin typeface="Calibri" pitchFamily="34" charset="0"/>
                <a:ea typeface="Calibri" pitchFamily="34" charset="-122"/>
                <a:cs typeface="Calibri" pitchFamily="34" charset="-120"/>
              </a:rPr>
              <a:t>Conversion</a:t>
            </a:r>
            <a:endParaRPr lang="en-US" sz="1150"/>
          </a:p>
        </p:txBody>
      </p:sp>
      <p:sp>
        <p:nvSpPr>
          <p:cNvPr id="14" name="Text 12"/>
          <p:cNvSpPr/>
          <p:nvPr/>
        </p:nvSpPr>
        <p:spPr>
          <a:xfrm>
            <a:off x="4315968" y="2359152"/>
            <a:ext cx="1463040" cy="457200"/>
          </a:xfrm>
          <a:prstGeom prst="rect">
            <a:avLst/>
          </a:prstGeom>
          <a:noFill/>
          <a:ln/>
        </p:spPr>
        <p:txBody>
          <a:bodyPr wrap="square" lIns="0" tIns="0" rIns="0" bIns="0" rtlCol="0" anchor="t"/>
          <a:lstStyle/>
          <a:p>
            <a:pPr marL="0" indent="0" algn="ctr">
              <a:lnSpc>
                <a:spcPts val="1100"/>
              </a:lnSpc>
              <a:buNone/>
            </a:pPr>
            <a:r>
              <a:rPr lang="en-US" sz="850">
                <a:solidFill>
                  <a:srgbClr val="6E5D54"/>
                </a:solidFill>
                <a:latin typeface="Calibri" pitchFamily="34" charset="0"/>
                <a:ea typeface="Calibri" pitchFamily="34" charset="-122"/>
                <a:cs typeface="Calibri" pitchFamily="34" charset="-120"/>
              </a:rPr>
              <a:t>canvas to PNG</a:t>
            </a:r>
            <a:endParaRPr lang="en-US" sz="850"/>
          </a:p>
          <a:p>
            <a:pPr marL="0" indent="0" algn="ctr">
              <a:lnSpc>
                <a:spcPts val="1100"/>
              </a:lnSpc>
              <a:buNone/>
            </a:pPr>
            <a:r>
              <a:rPr lang="en-US" sz="850">
                <a:solidFill>
                  <a:srgbClr val="6E5D54"/>
                </a:solidFill>
                <a:latin typeface="Calibri" pitchFamily="34" charset="0"/>
                <a:ea typeface="Calibri" pitchFamily="34" charset="-122"/>
                <a:cs typeface="Calibri" pitchFamily="34" charset="-120"/>
              </a:rPr>
              <a:t>data URL</a:t>
            </a:r>
            <a:endParaRPr lang="en-US" sz="850"/>
          </a:p>
        </p:txBody>
      </p:sp>
      <p:sp>
        <p:nvSpPr>
          <p:cNvPr id="15" name="Text 13"/>
          <p:cNvSpPr/>
          <p:nvPr/>
        </p:nvSpPr>
        <p:spPr>
          <a:xfrm>
            <a:off x="5833872" y="2075688"/>
            <a:ext cx="329184" cy="365760"/>
          </a:xfrm>
          <a:prstGeom prst="rect">
            <a:avLst/>
          </a:prstGeom>
          <a:noFill/>
          <a:ln/>
        </p:spPr>
        <p:txBody>
          <a:bodyPr wrap="square" lIns="0" tIns="0" rIns="0" bIns="0" rtlCol="0" anchor="ctr"/>
          <a:lstStyle/>
          <a:p>
            <a:pPr marL="0" indent="0" algn="ctr">
              <a:buNone/>
            </a:pPr>
            <a:r>
              <a:rPr lang="en-US" sz="1300">
                <a:solidFill>
                  <a:srgbClr val="B5764A"/>
                </a:solidFill>
                <a:latin typeface="Calibri" pitchFamily="34" charset="0"/>
                <a:ea typeface="Calibri" pitchFamily="34" charset="-122"/>
                <a:cs typeface="Calibri" pitchFamily="34" charset="-120"/>
              </a:rPr>
              <a:t>▶</a:t>
            </a:r>
            <a:endParaRPr lang="en-US" sz="1300"/>
          </a:p>
        </p:txBody>
      </p:sp>
      <p:sp>
        <p:nvSpPr>
          <p:cNvPr id="16" name="Shape 14"/>
          <p:cNvSpPr/>
          <p:nvPr/>
        </p:nvSpPr>
        <p:spPr>
          <a:xfrm>
            <a:off x="6163056" y="1572768"/>
            <a:ext cx="1572768" cy="1371600"/>
          </a:xfrm>
          <a:prstGeom prst="roundRect">
            <a:avLst>
              <a:gd name="adj" fmla="val 6000"/>
            </a:avLst>
          </a:prstGeom>
          <a:solidFill>
            <a:srgbClr val="FBF6F1"/>
          </a:solidFill>
          <a:ln w="12700">
            <a:solidFill>
              <a:srgbClr val="B5764A"/>
            </a:solidFill>
            <a:prstDash val="solid"/>
          </a:ln>
        </p:spPr>
        <p:txBody>
          <a:bodyPr/>
          <a:lstStyle/>
          <a:p>
            <a:endParaRPr lang="en-SG"/>
          </a:p>
        </p:txBody>
      </p:sp>
      <p:sp>
        <p:nvSpPr>
          <p:cNvPr id="17" name="Text 15"/>
          <p:cNvSpPr/>
          <p:nvPr/>
        </p:nvSpPr>
        <p:spPr>
          <a:xfrm>
            <a:off x="6217920" y="1755648"/>
            <a:ext cx="1463040" cy="548640"/>
          </a:xfrm>
          <a:prstGeom prst="rect">
            <a:avLst/>
          </a:prstGeom>
          <a:noFill/>
          <a:ln/>
        </p:spPr>
        <p:txBody>
          <a:bodyPr wrap="square" lIns="0" tIns="0" rIns="0" bIns="0" rtlCol="0" anchor="ctr"/>
          <a:lstStyle/>
          <a:p>
            <a:pPr marL="0" indent="0" algn="ctr">
              <a:lnSpc>
                <a:spcPts val="1400"/>
              </a:lnSpc>
              <a:buNone/>
            </a:pPr>
            <a:r>
              <a:rPr lang="en-US" sz="1150" b="1">
                <a:solidFill>
                  <a:srgbClr val="8A5730"/>
                </a:solidFill>
                <a:latin typeface="Calibri" pitchFamily="34" charset="0"/>
                <a:ea typeface="Calibri" pitchFamily="34" charset="-122"/>
                <a:cs typeface="Calibri" pitchFamily="34" charset="-120"/>
              </a:rPr>
              <a:t>syncPDF</a:t>
            </a:r>
            <a:endParaRPr lang="en-US" sz="1150"/>
          </a:p>
          <a:p>
            <a:pPr marL="0" indent="0" algn="ctr">
              <a:lnSpc>
                <a:spcPts val="1400"/>
              </a:lnSpc>
              <a:buNone/>
            </a:pPr>
            <a:r>
              <a:rPr lang="en-US" sz="1150" b="1">
                <a:solidFill>
                  <a:srgbClr val="8A5730"/>
                </a:solidFill>
                <a:latin typeface="Calibri" pitchFamily="34" charset="0"/>
                <a:ea typeface="Calibri" pitchFamily="34" charset="-122"/>
                <a:cs typeface="Calibri" pitchFamily="34" charset="-120"/>
              </a:rPr>
              <a:t>Signature()</a:t>
            </a:r>
            <a:endParaRPr lang="en-US" sz="1150"/>
          </a:p>
        </p:txBody>
      </p:sp>
      <p:sp>
        <p:nvSpPr>
          <p:cNvPr id="18" name="Text 16"/>
          <p:cNvSpPr/>
          <p:nvPr/>
        </p:nvSpPr>
        <p:spPr>
          <a:xfrm>
            <a:off x="6217920" y="2359152"/>
            <a:ext cx="1463040" cy="457200"/>
          </a:xfrm>
          <a:prstGeom prst="rect">
            <a:avLst/>
          </a:prstGeom>
          <a:noFill/>
          <a:ln/>
        </p:spPr>
        <p:txBody>
          <a:bodyPr wrap="square" lIns="0" tIns="0" rIns="0" bIns="0" rtlCol="0" anchor="t"/>
          <a:lstStyle/>
          <a:p>
            <a:pPr marL="0" indent="0" algn="ctr">
              <a:lnSpc>
                <a:spcPts val="1100"/>
              </a:lnSpc>
              <a:buNone/>
            </a:pPr>
            <a:r>
              <a:rPr lang="en-US" sz="850">
                <a:solidFill>
                  <a:srgbClr val="6E5D54"/>
                </a:solidFill>
                <a:latin typeface="Calibri" pitchFamily="34" charset="0"/>
                <a:ea typeface="Calibri" pitchFamily="34" charset="-122"/>
                <a:cs typeface="Calibri" pitchFamily="34" charset="-120"/>
              </a:rPr>
              <a:t>injects into</a:t>
            </a:r>
            <a:endParaRPr lang="en-US" sz="850"/>
          </a:p>
          <a:p>
            <a:pPr marL="0" indent="0" algn="ctr">
              <a:lnSpc>
                <a:spcPts val="1100"/>
              </a:lnSpc>
              <a:buNone/>
            </a:pPr>
            <a:r>
              <a:rPr lang="en-US" sz="850">
                <a:solidFill>
                  <a:srgbClr val="6E5D54"/>
                </a:solidFill>
                <a:latin typeface="Calibri" pitchFamily="34" charset="0"/>
                <a:ea typeface="Calibri" pitchFamily="34" charset="-122"/>
                <a:cs typeface="Calibri" pitchFamily="34" charset="-120"/>
              </a:rPr>
              <a:t>the quote</a:t>
            </a:r>
            <a:endParaRPr lang="en-US" sz="850"/>
          </a:p>
        </p:txBody>
      </p:sp>
      <p:sp>
        <p:nvSpPr>
          <p:cNvPr id="19" name="Text 17"/>
          <p:cNvSpPr/>
          <p:nvPr/>
        </p:nvSpPr>
        <p:spPr>
          <a:xfrm>
            <a:off x="7735824" y="2075688"/>
            <a:ext cx="329184" cy="365760"/>
          </a:xfrm>
          <a:prstGeom prst="rect">
            <a:avLst/>
          </a:prstGeom>
          <a:noFill/>
          <a:ln/>
        </p:spPr>
        <p:txBody>
          <a:bodyPr wrap="square" lIns="0" tIns="0" rIns="0" bIns="0" rtlCol="0" anchor="ctr"/>
          <a:lstStyle/>
          <a:p>
            <a:pPr marL="0" indent="0" algn="ctr">
              <a:buNone/>
            </a:pPr>
            <a:r>
              <a:rPr lang="en-US" sz="1300">
                <a:solidFill>
                  <a:srgbClr val="B5764A"/>
                </a:solidFill>
                <a:latin typeface="Calibri" pitchFamily="34" charset="0"/>
                <a:ea typeface="Calibri" pitchFamily="34" charset="-122"/>
                <a:cs typeface="Calibri" pitchFamily="34" charset="-120"/>
              </a:rPr>
              <a:t>▶</a:t>
            </a:r>
            <a:endParaRPr lang="en-US" sz="1300"/>
          </a:p>
        </p:txBody>
      </p:sp>
      <p:sp>
        <p:nvSpPr>
          <p:cNvPr id="20" name="Shape 18"/>
          <p:cNvSpPr/>
          <p:nvPr/>
        </p:nvSpPr>
        <p:spPr>
          <a:xfrm>
            <a:off x="8065008" y="1572768"/>
            <a:ext cx="1572768" cy="1371600"/>
          </a:xfrm>
          <a:prstGeom prst="roundRect">
            <a:avLst>
              <a:gd name="adj" fmla="val 6000"/>
            </a:avLst>
          </a:prstGeom>
          <a:solidFill>
            <a:srgbClr val="FBF6F1"/>
          </a:solidFill>
          <a:ln w="12700">
            <a:solidFill>
              <a:srgbClr val="B5764A"/>
            </a:solidFill>
            <a:prstDash val="solid"/>
          </a:ln>
        </p:spPr>
        <p:txBody>
          <a:bodyPr/>
          <a:lstStyle/>
          <a:p>
            <a:endParaRPr lang="en-SG"/>
          </a:p>
        </p:txBody>
      </p:sp>
      <p:sp>
        <p:nvSpPr>
          <p:cNvPr id="21" name="Text 19"/>
          <p:cNvSpPr/>
          <p:nvPr/>
        </p:nvSpPr>
        <p:spPr>
          <a:xfrm>
            <a:off x="8119872" y="1755648"/>
            <a:ext cx="1463040" cy="548640"/>
          </a:xfrm>
          <a:prstGeom prst="rect">
            <a:avLst/>
          </a:prstGeom>
          <a:noFill/>
          <a:ln/>
        </p:spPr>
        <p:txBody>
          <a:bodyPr wrap="square" lIns="0" tIns="0" rIns="0" bIns="0" rtlCol="0" anchor="ctr"/>
          <a:lstStyle/>
          <a:p>
            <a:pPr marL="0" indent="0" algn="ctr">
              <a:lnSpc>
                <a:spcPts val="1400"/>
              </a:lnSpc>
              <a:buNone/>
            </a:pPr>
            <a:r>
              <a:rPr lang="en-US" sz="1150" b="1">
                <a:solidFill>
                  <a:srgbClr val="8A5730"/>
                </a:solidFill>
                <a:latin typeface="Calibri" pitchFamily="34" charset="0"/>
                <a:ea typeface="Calibri" pitchFamily="34" charset="-122"/>
                <a:cs typeface="Calibri" pitchFamily="34" charset="-120"/>
              </a:rPr>
              <a:t>Browser Print</a:t>
            </a:r>
            <a:endParaRPr lang="en-US" sz="1150"/>
          </a:p>
          <a:p>
            <a:pPr marL="0" indent="0" algn="ctr">
              <a:lnSpc>
                <a:spcPts val="1400"/>
              </a:lnSpc>
              <a:buNone/>
            </a:pPr>
            <a:r>
              <a:rPr lang="en-US" sz="1150" b="1">
                <a:solidFill>
                  <a:srgbClr val="8A5730"/>
                </a:solidFill>
                <a:latin typeface="Calibri" pitchFamily="34" charset="0"/>
                <a:ea typeface="Calibri" pitchFamily="34" charset="-122"/>
                <a:cs typeface="Calibri" pitchFamily="34" charset="-120"/>
              </a:rPr>
              <a:t>Engine</a:t>
            </a:r>
            <a:endParaRPr lang="en-US" sz="1150"/>
          </a:p>
        </p:txBody>
      </p:sp>
      <p:sp>
        <p:nvSpPr>
          <p:cNvPr id="22" name="Text 20"/>
          <p:cNvSpPr/>
          <p:nvPr/>
        </p:nvSpPr>
        <p:spPr>
          <a:xfrm>
            <a:off x="8119872" y="2359152"/>
            <a:ext cx="1463040" cy="457200"/>
          </a:xfrm>
          <a:prstGeom prst="rect">
            <a:avLst/>
          </a:prstGeom>
          <a:noFill/>
          <a:ln/>
        </p:spPr>
        <p:txBody>
          <a:bodyPr wrap="square" lIns="0" tIns="0" rIns="0" bIns="0" rtlCol="0" anchor="t"/>
          <a:lstStyle/>
          <a:p>
            <a:pPr marL="0" indent="0" algn="ctr">
              <a:lnSpc>
                <a:spcPts val="1100"/>
              </a:lnSpc>
              <a:buNone/>
            </a:pPr>
            <a:r>
              <a:rPr lang="en-US" sz="850">
                <a:solidFill>
                  <a:srgbClr val="6E5D54"/>
                </a:solidFill>
                <a:latin typeface="Calibri" pitchFamily="34" charset="0"/>
                <a:ea typeface="Calibri" pitchFamily="34" charset="-122"/>
                <a:cs typeface="Calibri" pitchFamily="34" charset="-120"/>
              </a:rPr>
              <a:t>print CSS</a:t>
            </a:r>
            <a:endParaRPr lang="en-US" sz="850"/>
          </a:p>
          <a:p>
            <a:pPr marL="0" indent="0" algn="ctr">
              <a:lnSpc>
                <a:spcPts val="1100"/>
              </a:lnSpc>
              <a:buNone/>
            </a:pPr>
            <a:r>
              <a:rPr lang="en-US" sz="850">
                <a:solidFill>
                  <a:srgbClr val="6E5D54"/>
                </a:solidFill>
                <a:latin typeface="Calibri" pitchFamily="34" charset="0"/>
                <a:ea typeface="Calibri" pitchFamily="34" charset="-122"/>
                <a:cs typeface="Calibri" pitchFamily="34" charset="-120"/>
              </a:rPr>
              <a:t>isolates quote</a:t>
            </a:r>
            <a:endParaRPr lang="en-US" sz="850"/>
          </a:p>
        </p:txBody>
      </p:sp>
      <p:sp>
        <p:nvSpPr>
          <p:cNvPr id="23" name="Text 21"/>
          <p:cNvSpPr/>
          <p:nvPr/>
        </p:nvSpPr>
        <p:spPr>
          <a:xfrm>
            <a:off x="9637776" y="2075688"/>
            <a:ext cx="329184" cy="365760"/>
          </a:xfrm>
          <a:prstGeom prst="rect">
            <a:avLst/>
          </a:prstGeom>
          <a:noFill/>
          <a:ln/>
        </p:spPr>
        <p:txBody>
          <a:bodyPr wrap="square" lIns="0" tIns="0" rIns="0" bIns="0" rtlCol="0" anchor="ctr"/>
          <a:lstStyle/>
          <a:p>
            <a:pPr marL="0" indent="0" algn="ctr">
              <a:buNone/>
            </a:pPr>
            <a:r>
              <a:rPr lang="en-US" sz="1300">
                <a:solidFill>
                  <a:srgbClr val="B5764A"/>
                </a:solidFill>
                <a:latin typeface="Calibri" pitchFamily="34" charset="0"/>
                <a:ea typeface="Calibri" pitchFamily="34" charset="-122"/>
                <a:cs typeface="Calibri" pitchFamily="34" charset="-120"/>
              </a:rPr>
              <a:t>▶</a:t>
            </a:r>
            <a:endParaRPr lang="en-US" sz="1300"/>
          </a:p>
        </p:txBody>
      </p:sp>
      <p:sp>
        <p:nvSpPr>
          <p:cNvPr id="24" name="Shape 22"/>
          <p:cNvSpPr/>
          <p:nvPr/>
        </p:nvSpPr>
        <p:spPr>
          <a:xfrm>
            <a:off x="9966960" y="1572768"/>
            <a:ext cx="1572768" cy="1371600"/>
          </a:xfrm>
          <a:prstGeom prst="roundRect">
            <a:avLst>
              <a:gd name="adj" fmla="val 6000"/>
            </a:avLst>
          </a:prstGeom>
          <a:solidFill>
            <a:srgbClr val="2D1A12"/>
          </a:solidFill>
          <a:ln w="19050">
            <a:solidFill>
              <a:srgbClr val="5D8B6D"/>
            </a:solidFill>
            <a:prstDash val="solid"/>
          </a:ln>
        </p:spPr>
        <p:txBody>
          <a:bodyPr/>
          <a:lstStyle/>
          <a:p>
            <a:endParaRPr lang="en-SG"/>
          </a:p>
        </p:txBody>
      </p:sp>
      <p:sp>
        <p:nvSpPr>
          <p:cNvPr id="25" name="Text 23"/>
          <p:cNvSpPr/>
          <p:nvPr/>
        </p:nvSpPr>
        <p:spPr>
          <a:xfrm>
            <a:off x="10021824" y="1755648"/>
            <a:ext cx="1463040" cy="548640"/>
          </a:xfrm>
          <a:prstGeom prst="rect">
            <a:avLst/>
          </a:prstGeom>
          <a:noFill/>
          <a:ln/>
        </p:spPr>
        <p:txBody>
          <a:bodyPr wrap="square" lIns="0" tIns="0" rIns="0" bIns="0" rtlCol="0" anchor="ctr"/>
          <a:lstStyle/>
          <a:p>
            <a:pPr marL="0" indent="0" algn="ctr">
              <a:lnSpc>
                <a:spcPts val="1400"/>
              </a:lnSpc>
              <a:buNone/>
            </a:pPr>
            <a:r>
              <a:rPr lang="en-US" sz="1150" b="1">
                <a:solidFill>
                  <a:srgbClr val="5D8B6D"/>
                </a:solidFill>
                <a:latin typeface="Calibri" pitchFamily="34" charset="0"/>
                <a:ea typeface="Calibri" pitchFamily="34" charset="-122"/>
                <a:cs typeface="Calibri" pitchFamily="34" charset="-120"/>
              </a:rPr>
              <a:t>Final Executed</a:t>
            </a:r>
            <a:endParaRPr lang="en-US" sz="1150"/>
          </a:p>
          <a:p>
            <a:pPr marL="0" indent="0" algn="ctr">
              <a:lnSpc>
                <a:spcPts val="1400"/>
              </a:lnSpc>
              <a:buNone/>
            </a:pPr>
            <a:r>
              <a:rPr lang="en-US" sz="1150" b="1">
                <a:solidFill>
                  <a:srgbClr val="5D8B6D"/>
                </a:solidFill>
                <a:latin typeface="Calibri" pitchFamily="34" charset="0"/>
                <a:ea typeface="Calibri" pitchFamily="34" charset="-122"/>
                <a:cs typeface="Calibri" pitchFamily="34" charset="-120"/>
              </a:rPr>
              <a:t>Quote</a:t>
            </a:r>
            <a:endParaRPr lang="en-US" sz="1150"/>
          </a:p>
        </p:txBody>
      </p:sp>
      <p:sp>
        <p:nvSpPr>
          <p:cNvPr id="26" name="Text 24"/>
          <p:cNvSpPr/>
          <p:nvPr/>
        </p:nvSpPr>
        <p:spPr>
          <a:xfrm>
            <a:off x="10021824" y="2359152"/>
            <a:ext cx="1463040" cy="457200"/>
          </a:xfrm>
          <a:prstGeom prst="rect">
            <a:avLst/>
          </a:prstGeom>
          <a:noFill/>
          <a:ln/>
        </p:spPr>
        <p:txBody>
          <a:bodyPr wrap="square" lIns="0" tIns="0" rIns="0" bIns="0" rtlCol="0" anchor="t"/>
          <a:lstStyle/>
          <a:p>
            <a:pPr marL="0" indent="0" algn="ctr">
              <a:lnSpc>
                <a:spcPts val="1100"/>
              </a:lnSpc>
              <a:buNone/>
            </a:pPr>
            <a:r>
              <a:rPr lang="en-US" sz="850">
                <a:solidFill>
                  <a:srgbClr val="D9C9BC"/>
                </a:solidFill>
                <a:latin typeface="Calibri" pitchFamily="34" charset="0"/>
                <a:ea typeface="Calibri" pitchFamily="34" charset="-122"/>
                <a:cs typeface="Calibri" pitchFamily="34" charset="-120"/>
              </a:rPr>
              <a:t>signed PDF</a:t>
            </a:r>
            <a:endParaRPr lang="en-US" sz="850"/>
          </a:p>
          <a:p>
            <a:pPr marL="0" indent="0" algn="ctr">
              <a:lnSpc>
                <a:spcPts val="1100"/>
              </a:lnSpc>
              <a:buNone/>
            </a:pPr>
            <a:r>
              <a:rPr lang="en-US" sz="850">
                <a:solidFill>
                  <a:srgbClr val="D9C9BC"/>
                </a:solidFill>
                <a:latin typeface="Calibri" pitchFamily="34" charset="0"/>
                <a:ea typeface="Calibri" pitchFamily="34" charset="-122"/>
                <a:cs typeface="Calibri" pitchFamily="34" charset="-120"/>
              </a:rPr>
              <a:t>output</a:t>
            </a:r>
            <a:endParaRPr lang="en-US" sz="850"/>
          </a:p>
        </p:txBody>
      </p:sp>
      <p:sp>
        <p:nvSpPr>
          <p:cNvPr id="27" name="Text 25"/>
          <p:cNvSpPr/>
          <p:nvPr/>
        </p:nvSpPr>
        <p:spPr>
          <a:xfrm>
            <a:off x="457200" y="3154680"/>
            <a:ext cx="7315200" cy="365760"/>
          </a:xfrm>
          <a:prstGeom prst="rect">
            <a:avLst/>
          </a:prstGeom>
          <a:noFill/>
          <a:ln/>
        </p:spPr>
        <p:txBody>
          <a:bodyPr wrap="square" rtlCol="0" anchor="ctr"/>
          <a:lstStyle/>
          <a:p>
            <a:pPr marL="0" indent="0">
              <a:buNone/>
            </a:pPr>
            <a:r>
              <a:rPr lang="en-US" sz="1500" b="1">
                <a:solidFill>
                  <a:srgbClr val="2D1A12"/>
                </a:solidFill>
                <a:latin typeface="Calibri" pitchFamily="34" charset="0"/>
                <a:ea typeface="Calibri" pitchFamily="34" charset="-122"/>
                <a:cs typeface="Calibri" pitchFamily="34" charset="-120"/>
              </a:rPr>
              <a:t>What happens at each stage</a:t>
            </a:r>
            <a:endParaRPr lang="en-US" sz="1500"/>
          </a:p>
        </p:txBody>
      </p:sp>
      <p:sp>
        <p:nvSpPr>
          <p:cNvPr id="28" name="Text 26"/>
          <p:cNvSpPr/>
          <p:nvPr/>
        </p:nvSpPr>
        <p:spPr>
          <a:xfrm>
            <a:off x="457200" y="3611880"/>
            <a:ext cx="5440680" cy="274320"/>
          </a:xfrm>
          <a:prstGeom prst="rect">
            <a:avLst/>
          </a:prstGeom>
          <a:noFill/>
          <a:ln/>
        </p:spPr>
        <p:txBody>
          <a:bodyPr wrap="square" lIns="0" tIns="0" rIns="0" bIns="0" rtlCol="0" anchor="ctr"/>
          <a:lstStyle/>
          <a:p>
            <a:pPr marL="0" indent="0">
              <a:buNone/>
            </a:pPr>
            <a:r>
              <a:rPr lang="en-US" sz="1250" b="1">
                <a:solidFill>
                  <a:srgbClr val="8A5730"/>
                </a:solidFill>
                <a:latin typeface="Calibri" pitchFamily="34" charset="0"/>
                <a:ea typeface="Calibri" pitchFamily="34" charset="-122"/>
                <a:cs typeface="Calibri" pitchFamily="34" charset="-120"/>
              </a:rPr>
              <a:t>1  User Drawing</a:t>
            </a:r>
            <a:endParaRPr lang="en-US" sz="1250"/>
          </a:p>
        </p:txBody>
      </p:sp>
      <p:sp>
        <p:nvSpPr>
          <p:cNvPr id="29" name="Text 27"/>
          <p:cNvSpPr/>
          <p:nvPr/>
        </p:nvSpPr>
        <p:spPr>
          <a:xfrm>
            <a:off x="457200" y="3867912"/>
            <a:ext cx="5440680" cy="548640"/>
          </a:xfrm>
          <a:prstGeom prst="rect">
            <a:avLst/>
          </a:prstGeom>
          <a:noFill/>
          <a:ln/>
        </p:spPr>
        <p:txBody>
          <a:bodyPr wrap="square" lIns="0" tIns="0" rIns="0" bIns="0" rtlCol="0" anchor="ctr"/>
          <a:lstStyle/>
          <a:p>
            <a:pPr marL="0" indent="0">
              <a:lnSpc>
                <a:spcPts val="1500"/>
              </a:lnSpc>
              <a:buNone/>
            </a:pPr>
            <a:r>
              <a:rPr lang="en-US" sz="1150">
                <a:solidFill>
                  <a:srgbClr val="6E5D54"/>
                </a:solidFill>
                <a:latin typeface="Calibri" pitchFamily="34" charset="0"/>
                <a:ea typeface="Calibri" pitchFamily="34" charset="-122"/>
                <a:cs typeface="Calibri" pitchFamily="34" charset="-120"/>
              </a:rPr>
              <a:t>mousedown / mousemove and touchstart / touchmove listeners fire as the client signs.</a:t>
            </a:r>
            <a:endParaRPr lang="en-US" sz="1150"/>
          </a:p>
        </p:txBody>
      </p:sp>
      <p:sp>
        <p:nvSpPr>
          <p:cNvPr id="30" name="Text 28"/>
          <p:cNvSpPr/>
          <p:nvPr/>
        </p:nvSpPr>
        <p:spPr>
          <a:xfrm>
            <a:off x="6172200" y="3611880"/>
            <a:ext cx="5440680" cy="274320"/>
          </a:xfrm>
          <a:prstGeom prst="rect">
            <a:avLst/>
          </a:prstGeom>
          <a:noFill/>
          <a:ln/>
        </p:spPr>
        <p:txBody>
          <a:bodyPr wrap="square" lIns="0" tIns="0" rIns="0" bIns="0" rtlCol="0" anchor="ctr"/>
          <a:lstStyle/>
          <a:p>
            <a:pPr marL="0" indent="0">
              <a:buNone/>
            </a:pPr>
            <a:r>
              <a:rPr lang="en-US" sz="1250" b="1">
                <a:solidFill>
                  <a:srgbClr val="8A5730"/>
                </a:solidFill>
                <a:latin typeface="Calibri" pitchFamily="34" charset="0"/>
                <a:ea typeface="Calibri" pitchFamily="34" charset="-122"/>
                <a:cs typeface="Calibri" pitchFamily="34" charset="-120"/>
              </a:rPr>
              <a:t>2  HTML5 Canvas</a:t>
            </a:r>
            <a:endParaRPr lang="en-US" sz="1250"/>
          </a:p>
        </p:txBody>
      </p:sp>
      <p:sp>
        <p:nvSpPr>
          <p:cNvPr id="31" name="Text 29"/>
          <p:cNvSpPr/>
          <p:nvPr/>
        </p:nvSpPr>
        <p:spPr>
          <a:xfrm>
            <a:off x="6172200" y="3867912"/>
            <a:ext cx="5440680" cy="548640"/>
          </a:xfrm>
          <a:prstGeom prst="rect">
            <a:avLst/>
          </a:prstGeom>
          <a:noFill/>
          <a:ln/>
        </p:spPr>
        <p:txBody>
          <a:bodyPr wrap="square" lIns="0" tIns="0" rIns="0" bIns="0" rtlCol="0" anchor="ctr"/>
          <a:lstStyle/>
          <a:p>
            <a:pPr marL="0" indent="0">
              <a:lnSpc>
                <a:spcPts val="1500"/>
              </a:lnSpc>
              <a:buNone/>
            </a:pPr>
            <a:r>
              <a:rPr lang="en-US" sz="1150">
                <a:solidFill>
                  <a:srgbClr val="6E5D54"/>
                </a:solidFill>
                <a:latin typeface="Calibri" pitchFamily="34" charset="0"/>
                <a:ea typeface="Calibri" pitchFamily="34" charset="-122"/>
                <a:cs typeface="Calibri" pitchFamily="34" charset="-120"/>
              </a:rPr>
              <a:t>ctx.lineTo() and ctx.stroke() draw each stroke onto the canvas in real time.</a:t>
            </a:r>
            <a:endParaRPr lang="en-US" sz="1150"/>
          </a:p>
        </p:txBody>
      </p:sp>
      <p:sp>
        <p:nvSpPr>
          <p:cNvPr id="32" name="Text 30"/>
          <p:cNvSpPr/>
          <p:nvPr/>
        </p:nvSpPr>
        <p:spPr>
          <a:xfrm>
            <a:off x="457200" y="4498848"/>
            <a:ext cx="5440680" cy="274320"/>
          </a:xfrm>
          <a:prstGeom prst="rect">
            <a:avLst/>
          </a:prstGeom>
          <a:noFill/>
          <a:ln/>
        </p:spPr>
        <p:txBody>
          <a:bodyPr wrap="square" lIns="0" tIns="0" rIns="0" bIns="0" rtlCol="0" anchor="ctr"/>
          <a:lstStyle/>
          <a:p>
            <a:pPr marL="0" indent="0">
              <a:buNone/>
            </a:pPr>
            <a:r>
              <a:rPr lang="en-US" sz="1250" b="1">
                <a:solidFill>
                  <a:srgbClr val="8A5730"/>
                </a:solidFill>
                <a:latin typeface="Calibri" pitchFamily="34" charset="0"/>
                <a:ea typeface="Calibri" pitchFamily="34" charset="-122"/>
                <a:cs typeface="Calibri" pitchFamily="34" charset="-120"/>
              </a:rPr>
              <a:t>3  Base64 Conversion</a:t>
            </a:r>
            <a:endParaRPr lang="en-US" sz="1250"/>
          </a:p>
        </p:txBody>
      </p:sp>
      <p:sp>
        <p:nvSpPr>
          <p:cNvPr id="33" name="Text 31"/>
          <p:cNvSpPr/>
          <p:nvPr/>
        </p:nvSpPr>
        <p:spPr>
          <a:xfrm>
            <a:off x="457200" y="4754880"/>
            <a:ext cx="5440680" cy="548640"/>
          </a:xfrm>
          <a:prstGeom prst="rect">
            <a:avLst/>
          </a:prstGeom>
          <a:noFill/>
          <a:ln/>
        </p:spPr>
        <p:txBody>
          <a:bodyPr wrap="square" lIns="0" tIns="0" rIns="0" bIns="0" rtlCol="0" anchor="ctr"/>
          <a:lstStyle/>
          <a:p>
            <a:pPr marL="0" indent="0">
              <a:lnSpc>
                <a:spcPts val="1500"/>
              </a:lnSpc>
              <a:buNone/>
            </a:pPr>
            <a:r>
              <a:rPr lang="en-US" sz="1150">
                <a:solidFill>
                  <a:srgbClr val="6E5D54"/>
                </a:solidFill>
                <a:latin typeface="Calibri" pitchFamily="34" charset="0"/>
                <a:ea typeface="Calibri" pitchFamily="34" charset="-122"/>
                <a:cs typeface="Calibri" pitchFamily="34" charset="-120"/>
              </a:rPr>
              <a:t>canvas.toDataURL() converts the drawing into a PNG image string (a data URL).</a:t>
            </a:r>
            <a:endParaRPr lang="en-US" sz="1150"/>
          </a:p>
        </p:txBody>
      </p:sp>
      <p:sp>
        <p:nvSpPr>
          <p:cNvPr id="34" name="Text 32"/>
          <p:cNvSpPr/>
          <p:nvPr/>
        </p:nvSpPr>
        <p:spPr>
          <a:xfrm>
            <a:off x="6172200" y="4498848"/>
            <a:ext cx="5440680" cy="274320"/>
          </a:xfrm>
          <a:prstGeom prst="rect">
            <a:avLst/>
          </a:prstGeom>
          <a:noFill/>
          <a:ln/>
        </p:spPr>
        <p:txBody>
          <a:bodyPr wrap="square" lIns="0" tIns="0" rIns="0" bIns="0" rtlCol="0" anchor="ctr"/>
          <a:lstStyle/>
          <a:p>
            <a:pPr marL="0" indent="0">
              <a:buNone/>
            </a:pPr>
            <a:r>
              <a:rPr lang="en-US" sz="1250" b="1">
                <a:solidFill>
                  <a:srgbClr val="8A5730"/>
                </a:solidFill>
                <a:latin typeface="Calibri" pitchFamily="34" charset="0"/>
                <a:ea typeface="Calibri" pitchFamily="34" charset="-122"/>
                <a:cs typeface="Calibri" pitchFamily="34" charset="-120"/>
              </a:rPr>
              <a:t>4  syncPDFSignature()</a:t>
            </a:r>
            <a:endParaRPr lang="en-US" sz="1250"/>
          </a:p>
        </p:txBody>
      </p:sp>
      <p:sp>
        <p:nvSpPr>
          <p:cNvPr id="35" name="Text 33"/>
          <p:cNvSpPr/>
          <p:nvPr/>
        </p:nvSpPr>
        <p:spPr>
          <a:xfrm>
            <a:off x="6172200" y="4754880"/>
            <a:ext cx="5440680" cy="548640"/>
          </a:xfrm>
          <a:prstGeom prst="rect">
            <a:avLst/>
          </a:prstGeom>
          <a:noFill/>
          <a:ln/>
        </p:spPr>
        <p:txBody>
          <a:bodyPr wrap="square" lIns="0" tIns="0" rIns="0" bIns="0" rtlCol="0" anchor="ctr"/>
          <a:lstStyle/>
          <a:p>
            <a:pPr marL="0" indent="0">
              <a:lnSpc>
                <a:spcPts val="1500"/>
              </a:lnSpc>
              <a:buNone/>
            </a:pPr>
            <a:r>
              <a:rPr lang="en-US" sz="1150">
                <a:solidFill>
                  <a:srgbClr val="6E5D54"/>
                </a:solidFill>
                <a:latin typeface="Calibri" pitchFamily="34" charset="0"/>
                <a:ea typeface="Calibri" pitchFamily="34" charset="-122"/>
                <a:cs typeface="Calibri" pitchFamily="34" charset="-120"/>
              </a:rPr>
              <a:t>Saves it to state, sets the quote image source, and flips status to EXECUTED &amp; VERIFIED.</a:t>
            </a:r>
            <a:endParaRPr lang="en-US" sz="1150"/>
          </a:p>
        </p:txBody>
      </p:sp>
      <p:sp>
        <p:nvSpPr>
          <p:cNvPr id="36" name="Text 34"/>
          <p:cNvSpPr/>
          <p:nvPr/>
        </p:nvSpPr>
        <p:spPr>
          <a:xfrm>
            <a:off x="457200" y="5385816"/>
            <a:ext cx="5440680" cy="274320"/>
          </a:xfrm>
          <a:prstGeom prst="rect">
            <a:avLst/>
          </a:prstGeom>
          <a:noFill/>
          <a:ln/>
        </p:spPr>
        <p:txBody>
          <a:bodyPr wrap="square" lIns="0" tIns="0" rIns="0" bIns="0" rtlCol="0" anchor="ctr"/>
          <a:lstStyle/>
          <a:p>
            <a:pPr marL="0" indent="0">
              <a:buNone/>
            </a:pPr>
            <a:r>
              <a:rPr lang="en-US" sz="1250" b="1">
                <a:solidFill>
                  <a:srgbClr val="8A5730"/>
                </a:solidFill>
                <a:latin typeface="Calibri" pitchFamily="34" charset="0"/>
                <a:ea typeface="Calibri" pitchFamily="34" charset="-122"/>
                <a:cs typeface="Calibri" pitchFamily="34" charset="-120"/>
              </a:rPr>
              <a:t>5  Browser Print Engine</a:t>
            </a:r>
            <a:endParaRPr lang="en-US" sz="1250"/>
          </a:p>
        </p:txBody>
      </p:sp>
      <p:sp>
        <p:nvSpPr>
          <p:cNvPr id="37" name="Text 35"/>
          <p:cNvSpPr/>
          <p:nvPr/>
        </p:nvSpPr>
        <p:spPr>
          <a:xfrm>
            <a:off x="457200" y="5641848"/>
            <a:ext cx="5440680" cy="548640"/>
          </a:xfrm>
          <a:prstGeom prst="rect">
            <a:avLst/>
          </a:prstGeom>
          <a:noFill/>
          <a:ln/>
        </p:spPr>
        <p:txBody>
          <a:bodyPr wrap="square" lIns="0" tIns="0" rIns="0" bIns="0" rtlCol="0" anchor="ctr"/>
          <a:lstStyle/>
          <a:p>
            <a:pPr marL="0" indent="0">
              <a:lnSpc>
                <a:spcPts val="1500"/>
              </a:lnSpc>
              <a:buNone/>
            </a:pPr>
            <a:r>
              <a:rPr lang="en-US" sz="1150">
                <a:solidFill>
                  <a:srgbClr val="6E5D54"/>
                </a:solidFill>
                <a:latin typeface="Calibri" pitchFamily="34" charset="0"/>
                <a:ea typeface="Calibri" pitchFamily="34" charset="-122"/>
                <a:cs typeface="Calibri" pitchFamily="34" charset="-120"/>
              </a:rPr>
              <a:t>window.print() runs; the print stylesheet hides the app and shows only the quote.</a:t>
            </a:r>
            <a:endParaRPr lang="en-US" sz="1150"/>
          </a:p>
        </p:txBody>
      </p:sp>
      <p:sp>
        <p:nvSpPr>
          <p:cNvPr id="38" name="Text 36"/>
          <p:cNvSpPr/>
          <p:nvPr/>
        </p:nvSpPr>
        <p:spPr>
          <a:xfrm>
            <a:off x="6172200" y="5385816"/>
            <a:ext cx="5440680" cy="274320"/>
          </a:xfrm>
          <a:prstGeom prst="rect">
            <a:avLst/>
          </a:prstGeom>
          <a:noFill/>
          <a:ln/>
        </p:spPr>
        <p:txBody>
          <a:bodyPr wrap="square" lIns="0" tIns="0" rIns="0" bIns="0" rtlCol="0" anchor="ctr"/>
          <a:lstStyle/>
          <a:p>
            <a:pPr marL="0" indent="0">
              <a:buNone/>
            </a:pPr>
            <a:r>
              <a:rPr lang="en-US" sz="1250" b="1">
                <a:solidFill>
                  <a:srgbClr val="8A5730"/>
                </a:solidFill>
                <a:latin typeface="Calibri" pitchFamily="34" charset="0"/>
                <a:ea typeface="Calibri" pitchFamily="34" charset="-122"/>
                <a:cs typeface="Calibri" pitchFamily="34" charset="-120"/>
              </a:rPr>
              <a:t>6  Final Executed Quote</a:t>
            </a:r>
            <a:endParaRPr lang="en-US" sz="1250"/>
          </a:p>
        </p:txBody>
      </p:sp>
      <p:sp>
        <p:nvSpPr>
          <p:cNvPr id="39" name="Text 37"/>
          <p:cNvSpPr/>
          <p:nvPr/>
        </p:nvSpPr>
        <p:spPr>
          <a:xfrm>
            <a:off x="6172200" y="5641848"/>
            <a:ext cx="5440680" cy="548640"/>
          </a:xfrm>
          <a:prstGeom prst="rect">
            <a:avLst/>
          </a:prstGeom>
          <a:noFill/>
          <a:ln/>
        </p:spPr>
        <p:txBody>
          <a:bodyPr wrap="square" lIns="0" tIns="0" rIns="0" bIns="0" rtlCol="0" anchor="ctr"/>
          <a:lstStyle/>
          <a:p>
            <a:pPr marL="0" indent="0">
              <a:lnSpc>
                <a:spcPts val="1500"/>
              </a:lnSpc>
              <a:buNone/>
            </a:pPr>
            <a:r>
              <a:rPr lang="en-US" sz="1150">
                <a:solidFill>
                  <a:srgbClr val="6E5D54"/>
                </a:solidFill>
                <a:latin typeface="Calibri" pitchFamily="34" charset="0"/>
                <a:ea typeface="Calibri" pitchFamily="34" charset="-122"/>
                <a:cs typeface="Calibri" pitchFamily="34" charset="-120"/>
              </a:rPr>
              <a:t>A clean one-page PDF with the signature, signer name, timestamp and totals.</a:t>
            </a:r>
            <a:endParaRPr lang="en-US" sz="1150"/>
          </a:p>
        </p:txBody>
      </p:sp>
      <p:sp>
        <p:nvSpPr>
          <p:cNvPr id="40" name="Text 38"/>
          <p:cNvSpPr/>
          <p:nvPr/>
        </p:nvSpPr>
        <p:spPr>
          <a:xfrm>
            <a:off x="457200" y="6446520"/>
            <a:ext cx="7315200" cy="274320"/>
          </a:xfrm>
          <a:prstGeom prst="rect">
            <a:avLst/>
          </a:prstGeom>
          <a:noFill/>
          <a:ln/>
        </p:spPr>
        <p:txBody>
          <a:bodyPr wrap="square" rtlCol="0" anchor="ctr"/>
          <a:lstStyle/>
          <a:p>
            <a:pPr marL="0" indent="0" algn="l">
              <a:buNone/>
            </a:pPr>
            <a:r>
              <a:rPr lang="en-US" sz="900">
                <a:solidFill>
                  <a:srgbClr val="6E5D54"/>
                </a:solidFill>
                <a:latin typeface="Calibri" pitchFamily="34" charset="0"/>
                <a:ea typeface="Calibri" pitchFamily="34" charset="-122"/>
                <a:cs typeface="Calibri" pitchFamily="34" charset="-120"/>
              </a:rPr>
              <a:t>Klass Dignity Care  ·  E-Signature &amp; Intake Gateway</a:t>
            </a:r>
            <a:endParaRPr lang="en-US" sz="900"/>
          </a:p>
        </p:txBody>
      </p:sp>
      <p:sp>
        <p:nvSpPr>
          <p:cNvPr id="41" name="Text 39"/>
          <p:cNvSpPr/>
          <p:nvPr/>
        </p:nvSpPr>
        <p:spPr>
          <a:xfrm>
            <a:off x="11338560" y="6446520"/>
            <a:ext cx="457200" cy="274320"/>
          </a:xfrm>
          <a:prstGeom prst="rect">
            <a:avLst/>
          </a:prstGeom>
          <a:noFill/>
          <a:ln/>
        </p:spPr>
        <p:txBody>
          <a:bodyPr wrap="square" rtlCol="0" anchor="ctr"/>
          <a:lstStyle/>
          <a:p>
            <a:pPr marL="0" indent="0" algn="r">
              <a:buNone/>
            </a:pPr>
            <a:r>
              <a:rPr lang="en-US" sz="900">
                <a:solidFill>
                  <a:srgbClr val="6E5D54"/>
                </a:solidFill>
                <a:latin typeface="Calibri" pitchFamily="34" charset="0"/>
                <a:ea typeface="Calibri" pitchFamily="34" charset="-122"/>
                <a:cs typeface="Calibri" pitchFamily="34" charset="-120"/>
              </a:rPr>
              <a:t>4</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2D1A12"/>
        </a:solidFill>
        <a:effectLst/>
      </p:bgPr>
    </p:bg>
    <p:spTree>
      <p:nvGrpSpPr>
        <p:cNvPr id="1" name=""/>
        <p:cNvGrpSpPr/>
        <p:nvPr/>
      </p:nvGrpSpPr>
      <p:grpSpPr>
        <a:xfrm>
          <a:off x="0" y="0"/>
          <a:ext cx="0" cy="0"/>
          <a:chOff x="0" y="0"/>
          <a:chExt cx="0" cy="0"/>
        </a:xfrm>
      </p:grpSpPr>
      <p:sp>
        <p:nvSpPr>
          <p:cNvPr id="2" name="Text 0"/>
          <p:cNvSpPr/>
          <p:nvPr/>
        </p:nvSpPr>
        <p:spPr>
          <a:xfrm>
            <a:off x="457200" y="502920"/>
            <a:ext cx="7315200" cy="640080"/>
          </a:xfrm>
          <a:prstGeom prst="rect">
            <a:avLst/>
          </a:prstGeom>
          <a:noFill/>
          <a:ln/>
        </p:spPr>
        <p:txBody>
          <a:bodyPr wrap="square" rtlCol="0" anchor="ctr"/>
          <a:lstStyle/>
          <a:p>
            <a:pPr marL="0" indent="0">
              <a:buNone/>
            </a:pPr>
            <a:r>
              <a:rPr lang="en-US" sz="3200" b="1">
                <a:solidFill>
                  <a:srgbClr val="FFFFFF"/>
                </a:solidFill>
                <a:latin typeface="Bookman Old Style" pitchFamily="34" charset="0"/>
                <a:ea typeface="Bookman Old Style" pitchFamily="34" charset="-122"/>
                <a:cs typeface="Bookman Old Style" pitchFamily="34" charset="-120"/>
              </a:rPr>
              <a:t>The result</a:t>
            </a:r>
            <a:endParaRPr lang="en-US" sz="3200"/>
          </a:p>
        </p:txBody>
      </p:sp>
      <p:sp>
        <p:nvSpPr>
          <p:cNvPr id="3" name="Shape 1"/>
          <p:cNvSpPr/>
          <p:nvPr/>
        </p:nvSpPr>
        <p:spPr>
          <a:xfrm>
            <a:off x="457200" y="1463040"/>
            <a:ext cx="5486400" cy="1371600"/>
          </a:xfrm>
          <a:prstGeom prst="roundRect">
            <a:avLst>
              <a:gd name="adj" fmla="val 6667"/>
            </a:avLst>
          </a:prstGeom>
          <a:solidFill>
            <a:srgbClr val="22150E"/>
          </a:solidFill>
          <a:ln w="12700">
            <a:solidFill>
              <a:srgbClr val="5D8B6D"/>
            </a:solidFill>
            <a:prstDash val="solid"/>
          </a:ln>
        </p:spPr>
        <p:txBody>
          <a:bodyPr/>
          <a:lstStyle/>
          <a:p>
            <a:endParaRPr lang="en-SG"/>
          </a:p>
        </p:txBody>
      </p:sp>
      <p:sp>
        <p:nvSpPr>
          <p:cNvPr id="4" name="Text 2"/>
          <p:cNvSpPr/>
          <p:nvPr/>
        </p:nvSpPr>
        <p:spPr>
          <a:xfrm>
            <a:off x="731520" y="1691640"/>
            <a:ext cx="4937760" cy="457200"/>
          </a:xfrm>
          <a:prstGeom prst="rect">
            <a:avLst/>
          </a:prstGeom>
          <a:noFill/>
          <a:ln/>
        </p:spPr>
        <p:txBody>
          <a:bodyPr wrap="square" rtlCol="0" anchor="ctr"/>
          <a:lstStyle/>
          <a:p>
            <a:pPr marL="0" indent="0">
              <a:buNone/>
            </a:pPr>
            <a:r>
              <a:rPr lang="en-US" sz="1800" b="1">
                <a:solidFill>
                  <a:srgbClr val="5D8B6D"/>
                </a:solidFill>
                <a:latin typeface="Calibri" pitchFamily="34" charset="0"/>
                <a:ea typeface="Calibri" pitchFamily="34" charset="-122"/>
                <a:cs typeface="Calibri" pitchFamily="34" charset="-120"/>
              </a:rPr>
              <a:t>✓ EXECUTED &amp; VERIFIED</a:t>
            </a:r>
            <a:endParaRPr lang="en-US" sz="1800"/>
          </a:p>
        </p:txBody>
      </p:sp>
      <p:sp>
        <p:nvSpPr>
          <p:cNvPr id="5" name="Text 3"/>
          <p:cNvSpPr/>
          <p:nvPr/>
        </p:nvSpPr>
        <p:spPr>
          <a:xfrm>
            <a:off x="731520" y="2148840"/>
            <a:ext cx="4937760" cy="548640"/>
          </a:xfrm>
          <a:prstGeom prst="rect">
            <a:avLst/>
          </a:prstGeom>
          <a:noFill/>
          <a:ln/>
        </p:spPr>
        <p:txBody>
          <a:bodyPr wrap="square" rtlCol="0" anchor="ctr"/>
          <a:lstStyle/>
          <a:p>
            <a:pPr marL="0" indent="0">
              <a:lnSpc>
                <a:spcPts val="1700"/>
              </a:lnSpc>
              <a:buNone/>
            </a:pPr>
            <a:r>
              <a:rPr lang="en-US" sz="1300">
                <a:solidFill>
                  <a:srgbClr val="D9C9BC"/>
                </a:solidFill>
                <a:latin typeface="Calibri" pitchFamily="34" charset="0"/>
                <a:ea typeface="Calibri" pitchFamily="34" charset="-122"/>
                <a:cs typeface="Calibri" pitchFamily="34" charset="-120"/>
              </a:rPr>
              <a:t>A signed, timestamped, itemized quote — exported to PDF in one click.</a:t>
            </a:r>
            <a:endParaRPr lang="en-US" sz="1300"/>
          </a:p>
        </p:txBody>
      </p:sp>
      <p:sp>
        <p:nvSpPr>
          <p:cNvPr id="6" name="Shape 4"/>
          <p:cNvSpPr/>
          <p:nvPr/>
        </p:nvSpPr>
        <p:spPr>
          <a:xfrm>
            <a:off x="457200" y="3108960"/>
            <a:ext cx="5486400" cy="2743200"/>
          </a:xfrm>
          <a:prstGeom prst="roundRect">
            <a:avLst>
              <a:gd name="adj" fmla="val 3333"/>
            </a:avLst>
          </a:prstGeom>
          <a:solidFill>
            <a:srgbClr val="22150E"/>
          </a:solidFill>
          <a:ln w="12700">
            <a:solidFill>
              <a:srgbClr val="B5764A"/>
            </a:solidFill>
            <a:prstDash val="solid"/>
          </a:ln>
        </p:spPr>
        <p:txBody>
          <a:bodyPr/>
          <a:lstStyle/>
          <a:p>
            <a:endParaRPr lang="en-SG"/>
          </a:p>
        </p:txBody>
      </p:sp>
      <p:sp>
        <p:nvSpPr>
          <p:cNvPr id="7" name="Text 5"/>
          <p:cNvSpPr/>
          <p:nvPr/>
        </p:nvSpPr>
        <p:spPr>
          <a:xfrm>
            <a:off x="731520" y="3337560"/>
            <a:ext cx="4937760" cy="411480"/>
          </a:xfrm>
          <a:prstGeom prst="rect">
            <a:avLst/>
          </a:prstGeom>
          <a:noFill/>
          <a:ln/>
        </p:spPr>
        <p:txBody>
          <a:bodyPr wrap="square" rtlCol="0" anchor="ctr"/>
          <a:lstStyle/>
          <a:p>
            <a:pPr marL="0" indent="0">
              <a:buNone/>
            </a:pPr>
            <a:r>
              <a:rPr lang="en-US" sz="1500" b="1">
                <a:solidFill>
                  <a:srgbClr val="B5764A"/>
                </a:solidFill>
                <a:latin typeface="Calibri" pitchFamily="34" charset="0"/>
                <a:ea typeface="Calibri" pitchFamily="34" charset="-122"/>
                <a:cs typeface="Calibri" pitchFamily="34" charset="-120"/>
              </a:rPr>
              <a:t>Scope (Proof of Concept)</a:t>
            </a:r>
            <a:endParaRPr lang="en-US" sz="1500"/>
          </a:p>
        </p:txBody>
      </p:sp>
      <p:sp>
        <p:nvSpPr>
          <p:cNvPr id="8" name="Text 6"/>
          <p:cNvSpPr/>
          <p:nvPr/>
        </p:nvSpPr>
        <p:spPr>
          <a:xfrm>
            <a:off x="777240" y="3794760"/>
            <a:ext cx="274320" cy="365760"/>
          </a:xfrm>
          <a:prstGeom prst="rect">
            <a:avLst/>
          </a:prstGeom>
          <a:noFill/>
          <a:ln/>
        </p:spPr>
        <p:txBody>
          <a:bodyPr wrap="square" rtlCol="0" anchor="t"/>
          <a:lstStyle/>
          <a:p>
            <a:pPr marL="0" indent="0">
              <a:buNone/>
            </a:pPr>
            <a:r>
              <a:rPr lang="en-US" sz="1400">
                <a:solidFill>
                  <a:srgbClr val="B5764A"/>
                </a:solidFill>
                <a:latin typeface="Calibri" pitchFamily="34" charset="0"/>
                <a:ea typeface="Calibri" pitchFamily="34" charset="-122"/>
                <a:cs typeface="Calibri" pitchFamily="34" charset="-120"/>
              </a:rPr>
              <a:t>•</a:t>
            </a:r>
            <a:endParaRPr lang="en-US" sz="1400"/>
          </a:p>
        </p:txBody>
      </p:sp>
      <p:sp>
        <p:nvSpPr>
          <p:cNvPr id="9" name="Text 7"/>
          <p:cNvSpPr/>
          <p:nvPr/>
        </p:nvSpPr>
        <p:spPr>
          <a:xfrm>
            <a:off x="1051560" y="3794760"/>
            <a:ext cx="4709160" cy="685800"/>
          </a:xfrm>
          <a:prstGeom prst="rect">
            <a:avLst/>
          </a:prstGeom>
          <a:noFill/>
          <a:ln/>
        </p:spPr>
        <p:txBody>
          <a:bodyPr wrap="square" rtlCol="0" anchor="t"/>
          <a:lstStyle/>
          <a:p>
            <a:pPr marL="0" indent="0">
              <a:lnSpc>
                <a:spcPts val="1600"/>
              </a:lnSpc>
              <a:buNone/>
            </a:pPr>
            <a:r>
              <a:rPr lang="en-US" sz="1250">
                <a:solidFill>
                  <a:srgbClr val="E4D6CA"/>
                </a:solidFill>
                <a:latin typeface="Calibri" pitchFamily="34" charset="0"/>
                <a:ea typeface="Calibri" pitchFamily="34" charset="-122"/>
                <a:cs typeface="Calibri" pitchFamily="34" charset="-120"/>
              </a:rPr>
              <a:t>Captures a real drawn signature (touch + mouse).</a:t>
            </a:r>
            <a:endParaRPr lang="en-US" sz="1250"/>
          </a:p>
        </p:txBody>
      </p:sp>
      <p:sp>
        <p:nvSpPr>
          <p:cNvPr id="10" name="Text 8"/>
          <p:cNvSpPr/>
          <p:nvPr/>
        </p:nvSpPr>
        <p:spPr>
          <a:xfrm>
            <a:off x="777240" y="4507992"/>
            <a:ext cx="274320" cy="365760"/>
          </a:xfrm>
          <a:prstGeom prst="rect">
            <a:avLst/>
          </a:prstGeom>
          <a:noFill/>
          <a:ln/>
        </p:spPr>
        <p:txBody>
          <a:bodyPr wrap="square" rtlCol="0" anchor="t"/>
          <a:lstStyle/>
          <a:p>
            <a:pPr marL="0" indent="0">
              <a:buNone/>
            </a:pPr>
            <a:r>
              <a:rPr lang="en-US" sz="1400">
                <a:solidFill>
                  <a:srgbClr val="B5764A"/>
                </a:solidFill>
                <a:latin typeface="Calibri" pitchFamily="34" charset="0"/>
                <a:ea typeface="Calibri" pitchFamily="34" charset="-122"/>
                <a:cs typeface="Calibri" pitchFamily="34" charset="-120"/>
              </a:rPr>
              <a:t>•</a:t>
            </a:r>
            <a:endParaRPr lang="en-US" sz="1400"/>
          </a:p>
        </p:txBody>
      </p:sp>
      <p:sp>
        <p:nvSpPr>
          <p:cNvPr id="11" name="Text 9"/>
          <p:cNvSpPr/>
          <p:nvPr/>
        </p:nvSpPr>
        <p:spPr>
          <a:xfrm>
            <a:off x="1051560" y="4507992"/>
            <a:ext cx="4709160" cy="685800"/>
          </a:xfrm>
          <a:prstGeom prst="rect">
            <a:avLst/>
          </a:prstGeom>
          <a:noFill/>
          <a:ln/>
        </p:spPr>
        <p:txBody>
          <a:bodyPr wrap="square" rtlCol="0" anchor="t"/>
          <a:lstStyle/>
          <a:p>
            <a:pPr marL="0" indent="0">
              <a:lnSpc>
                <a:spcPts val="1600"/>
              </a:lnSpc>
              <a:buNone/>
            </a:pPr>
            <a:r>
              <a:rPr lang="en-US" sz="1250">
                <a:solidFill>
                  <a:srgbClr val="E4D6CA"/>
                </a:solidFill>
                <a:latin typeface="Calibri" pitchFamily="34" charset="0"/>
                <a:ea typeface="Calibri" pitchFamily="34" charset="-122"/>
                <a:cs typeface="Calibri" pitchFamily="34" charset="-120"/>
              </a:rPr>
              <a:t>Embeds it into the exportable PDF quote.</a:t>
            </a:r>
            <a:endParaRPr lang="en-US" sz="1250"/>
          </a:p>
        </p:txBody>
      </p:sp>
      <p:sp>
        <p:nvSpPr>
          <p:cNvPr id="12" name="Text 10"/>
          <p:cNvSpPr/>
          <p:nvPr/>
        </p:nvSpPr>
        <p:spPr>
          <a:xfrm>
            <a:off x="777240" y="5221224"/>
            <a:ext cx="274320" cy="365760"/>
          </a:xfrm>
          <a:prstGeom prst="rect">
            <a:avLst/>
          </a:prstGeom>
          <a:noFill/>
          <a:ln/>
        </p:spPr>
        <p:txBody>
          <a:bodyPr wrap="square" rtlCol="0" anchor="t"/>
          <a:lstStyle/>
          <a:p>
            <a:pPr marL="0" indent="0">
              <a:buNone/>
            </a:pPr>
            <a:r>
              <a:rPr lang="en-US" sz="1400">
                <a:solidFill>
                  <a:srgbClr val="B5764A"/>
                </a:solidFill>
                <a:latin typeface="Calibri" pitchFamily="34" charset="0"/>
                <a:ea typeface="Calibri" pitchFamily="34" charset="-122"/>
                <a:cs typeface="Calibri" pitchFamily="34" charset="-120"/>
              </a:rPr>
              <a:t>•</a:t>
            </a:r>
            <a:endParaRPr lang="en-US" sz="1400"/>
          </a:p>
        </p:txBody>
      </p:sp>
      <p:sp>
        <p:nvSpPr>
          <p:cNvPr id="13" name="Text 11"/>
          <p:cNvSpPr/>
          <p:nvPr/>
        </p:nvSpPr>
        <p:spPr>
          <a:xfrm>
            <a:off x="1051560" y="5221224"/>
            <a:ext cx="4709160" cy="685800"/>
          </a:xfrm>
          <a:prstGeom prst="rect">
            <a:avLst/>
          </a:prstGeom>
          <a:noFill/>
          <a:ln/>
        </p:spPr>
        <p:txBody>
          <a:bodyPr wrap="square" rtlCol="0" anchor="t"/>
          <a:lstStyle/>
          <a:p>
            <a:pPr marL="0" indent="0">
              <a:lnSpc>
                <a:spcPts val="1600"/>
              </a:lnSpc>
              <a:buNone/>
            </a:pPr>
            <a:r>
              <a:rPr lang="en-US" sz="1250">
                <a:solidFill>
                  <a:srgbClr val="E4D6CA"/>
                </a:solidFill>
                <a:latin typeface="Calibri" pitchFamily="34" charset="0"/>
                <a:ea typeface="Calibri" pitchFamily="34" charset="-122"/>
                <a:cs typeface="Calibri" pitchFamily="34" charset="-120"/>
              </a:rPr>
              <a:t>The “SHA-256” label marks where production-grade cryptographic signing would be added later.</a:t>
            </a:r>
            <a:endParaRPr lang="en-US" sz="1250"/>
          </a:p>
        </p:txBody>
      </p:sp>
      <p:sp>
        <p:nvSpPr>
          <p:cNvPr id="14" name="Shape 12"/>
          <p:cNvSpPr/>
          <p:nvPr/>
        </p:nvSpPr>
        <p:spPr>
          <a:xfrm>
            <a:off x="6400800" y="1463040"/>
            <a:ext cx="5303520" cy="4389120"/>
          </a:xfrm>
          <a:prstGeom prst="roundRect">
            <a:avLst>
              <a:gd name="adj" fmla="val 2500"/>
            </a:avLst>
          </a:prstGeom>
          <a:solidFill>
            <a:srgbClr val="FFFFFF"/>
          </a:solidFill>
          <a:ln/>
        </p:spPr>
        <p:txBody>
          <a:bodyPr/>
          <a:lstStyle/>
          <a:p>
            <a:endParaRPr lang="en-SG"/>
          </a:p>
        </p:txBody>
      </p:sp>
      <p:pic>
        <p:nvPicPr>
          <p:cNvPr id="15" name="Image 0" descr="assets/quote_card.png"/>
          <p:cNvPicPr>
            <a:picLocks noChangeAspect="1"/>
          </p:cNvPicPr>
          <p:nvPr/>
        </p:nvPicPr>
        <p:blipFill>
          <a:blip r:embed="rId3"/>
          <a:stretch>
            <a:fillRect/>
          </a:stretch>
        </p:blipFill>
        <p:spPr>
          <a:xfrm>
            <a:off x="6629400" y="1691640"/>
            <a:ext cx="4846320" cy="3931920"/>
          </a:xfrm>
          <a:prstGeom prst="rect">
            <a:avLst/>
          </a:prstGeom>
        </p:spPr>
      </p:pic>
      <p:sp>
        <p:nvSpPr>
          <p:cNvPr id="16" name="Text 13"/>
          <p:cNvSpPr/>
          <p:nvPr/>
        </p:nvSpPr>
        <p:spPr>
          <a:xfrm>
            <a:off x="457200" y="6446520"/>
            <a:ext cx="7315200" cy="274320"/>
          </a:xfrm>
          <a:prstGeom prst="rect">
            <a:avLst/>
          </a:prstGeom>
          <a:noFill/>
          <a:ln/>
        </p:spPr>
        <p:txBody>
          <a:bodyPr wrap="square" rtlCol="0" anchor="ctr"/>
          <a:lstStyle/>
          <a:p>
            <a:pPr marL="0" indent="0" algn="l">
              <a:buNone/>
            </a:pPr>
            <a:r>
              <a:rPr lang="en-US" sz="900">
                <a:solidFill>
                  <a:srgbClr val="6E5D54"/>
                </a:solidFill>
                <a:latin typeface="Calibri" pitchFamily="34" charset="0"/>
                <a:ea typeface="Calibri" pitchFamily="34" charset="-122"/>
                <a:cs typeface="Calibri" pitchFamily="34" charset="-120"/>
              </a:rPr>
              <a:t>Klass Dignity Care  ·  E-Signature &amp; Intake Gateway</a:t>
            </a:r>
            <a:endParaRPr lang="en-US" sz="900"/>
          </a:p>
        </p:txBody>
      </p:sp>
      <p:sp>
        <p:nvSpPr>
          <p:cNvPr id="17" name="Text 14"/>
          <p:cNvSpPr/>
          <p:nvPr/>
        </p:nvSpPr>
        <p:spPr>
          <a:xfrm>
            <a:off x="11338560" y="6446520"/>
            <a:ext cx="457200" cy="274320"/>
          </a:xfrm>
          <a:prstGeom prst="rect">
            <a:avLst/>
          </a:prstGeom>
          <a:noFill/>
          <a:ln/>
        </p:spPr>
        <p:txBody>
          <a:bodyPr wrap="square" rtlCol="0" anchor="ctr"/>
          <a:lstStyle/>
          <a:p>
            <a:pPr marL="0" indent="0" algn="r">
              <a:buNone/>
            </a:pPr>
            <a:r>
              <a:rPr lang="en-US" sz="900">
                <a:solidFill>
                  <a:srgbClr val="6E5D54"/>
                </a:solidFill>
                <a:latin typeface="Calibri" pitchFamily="34" charset="0"/>
                <a:ea typeface="Calibri" pitchFamily="34" charset="-122"/>
                <a:cs typeface="Calibri" pitchFamily="34" charset="-120"/>
              </a:rPr>
              <a:t>6</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79A0A3B59B5C4B809AC3F1452C23BD" ma:contentTypeVersion="9" ma:contentTypeDescription="Create a new document." ma:contentTypeScope="" ma:versionID="2e42c8de6c607768d1df801c6bbca44d">
  <xsd:schema xmlns:xsd="http://www.w3.org/2001/XMLSchema" xmlns:xs="http://www.w3.org/2001/XMLSchema" xmlns:p="http://schemas.microsoft.com/office/2006/metadata/properties" xmlns:ns3="2b68c826-62cb-4aad-8f92-5baca18393a1" targetNamespace="http://schemas.microsoft.com/office/2006/metadata/properties" ma:root="true" ma:fieldsID="e32e45400a8303f7ead90ccf33c7d6f2" ns3:_="">
    <xsd:import namespace="2b68c826-62cb-4aad-8f92-5baca18393a1"/>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68c826-62cb-4aad-8f92-5baca18393a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b68c826-62cb-4aad-8f92-5baca18393a1" xsi:nil="true"/>
  </documentManagement>
</p:properties>
</file>

<file path=customXml/itemProps1.xml><?xml version="1.0" encoding="utf-8"?>
<ds:datastoreItem xmlns:ds="http://schemas.openxmlformats.org/officeDocument/2006/customXml" ds:itemID="{5E20401C-43D8-4F56-BA68-01EE7E95B92E}">
  <ds:schemaRefs>
    <ds:schemaRef ds:uri="2b68c826-62cb-4aad-8f92-5baca18393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B2281CC-3075-4D70-BA91-B244312A3A33}">
  <ds:schemaRefs>
    <ds:schemaRef ds:uri="http://schemas.microsoft.com/sharepoint/v3/contenttype/forms"/>
  </ds:schemaRefs>
</ds:datastoreItem>
</file>

<file path=customXml/itemProps3.xml><?xml version="1.0" encoding="utf-8"?>
<ds:datastoreItem xmlns:ds="http://schemas.openxmlformats.org/officeDocument/2006/customXml" ds:itemID="{7A5F2ACF-7009-4419-8431-15AB77EC6658}">
  <ds:schemaRefs>
    <ds:schemaRef ds:uri="2b68c826-62cb-4aad-8f92-5baca18393a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Slides>
  <Notes>5</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3</cp:revision>
  <dcterms:created xsi:type="dcterms:W3CDTF">2026-07-27T13:17:12Z</dcterms:created>
  <dcterms:modified xsi:type="dcterms:W3CDTF">2026-07-27T16:40:01Z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0x010100AE79A0A3B59B5C4B809AC3F1452C23BD</vt:lpwstr>
  </property>
</Properties>
</file>